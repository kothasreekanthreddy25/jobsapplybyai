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53dd5fc-4de0-fc09-27c8-c87f30a2ba72}">
          <p14:sldIdLst>
            <p14:sldId id="256"/>
          </p14:sldIdLst>
        </p14:section>
        <p14:section name="Why" id="{37cab41e-cbfe-0718-ae37-3518d7432e86}">
          <p14:sldIdLst>
            <p14:sldId id="257"/>
            <p14:sldId id="258"/>
          </p14:sldIdLst>
        </p14:section>
        <p14:section name="Product tour" id="{1d1aeebd-1766-f651-7f9c-29ce2e135d74}">
          <p14:sldIdLst>
            <p14:sldId id="259"/>
            <p14:sldId id="260"/>
            <p14:sldId id="261"/>
            <p14:sldId id="262"/>
            <p14:sldId id="263"/>
          </p14:sldIdLst>
        </p14:section>
        <p14:section name="Trust" id="{dbef972f-8a3a-cfb2-6b77-308b8ae88055}">
          <p14:sldIdLst>
            <p14:sldId id="264"/>
            <p14:sldId id="265"/>
            <p14:sldId id="266"/>
          </p14:sldIdLst>
        </p14:section>
        <p14:section name="Next steps" id="{a7eba007-46d8-a94a-4ac3-436eccdd4760}">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Match score weights</c:v>
                </c:pt>
              </c:strCache>
            </c:strRef>
          </c:tx>
          <c:spPr>
            <a:solidFill>
              <a:schemeClr val="accent1"/>
            </a:solidFill>
            <a:ln w="9525" cap="flat">
              <a:solidFill>
                <a:srgbClr val="F9F9F9"/>
              </a:solidFill>
              <a:prstDash val="solid"/>
              <a:round/>
            </a:ln>
            <a:effectLst/>
          </c:spPr>
          <c:dPt>
            <c:idx val="0"/>
            <c:bubble3D val="0"/>
            <c:spPr>
              <a:solidFill>
                <a:srgbClr val="0FB5A0"/>
              </a:solidFill>
              <a:ln w="25400" cap="flat">
                <a:solidFill>
                  <a:srgbClr val="FFFFFF"/>
                </a:solidFill>
                <a:prstDash val="solid"/>
                <a:round/>
              </a:ln>
              <a:effectLst/>
            </c:spPr>
          </c:dPt>
          <c:dPt>
            <c:idx val="1"/>
            <c:bubble3D val="0"/>
            <c:spPr>
              <a:solidFill>
                <a:srgbClr val="F5A524"/>
              </a:solidFill>
              <a:ln w="25400" cap="flat">
                <a:solidFill>
                  <a:srgbClr val="FFFFFF"/>
                </a:solidFill>
                <a:prstDash val="solid"/>
                <a:round/>
              </a:ln>
              <a:effectLst/>
            </c:spPr>
          </c:dPt>
          <c:dPt>
            <c:idx val="2"/>
            <c:bubble3D val="0"/>
            <c:spPr>
              <a:solidFill>
                <a:srgbClr val="3B6EA5"/>
              </a:solidFill>
              <a:ln w="25400" cap="flat">
                <a:solidFill>
                  <a:srgbClr val="FFFFFF"/>
                </a:solidFill>
                <a:prstDash val="solid"/>
                <a:round/>
              </a:ln>
              <a:effectLst/>
            </c:spPr>
          </c:dPt>
          <c:dLbls>
            <c:dLbl>
              <c:idx val="0"/>
              <c:numFmt formatCode="0&quot;%&quot;" sourceLinked="0"/>
              <c:spPr/>
              <c:txPr>
                <a:bodyPr/>
                <a:lstStyle/>
                <a:p>
                  <a:pPr>
                    <a:defRPr sz="1400" b="1" i="0" u="none" strike="noStrike">
                      <a:solidFill>
                        <a:srgbClr val="FFFFFF"/>
                      </a:solidFill>
                      <a:latin typeface="+mn-lt"/>
                    </a:defRPr>
                  </a:pPr>
                </a:p>
              </c:txPr>
              <c:showLegendKey val="0"/>
              <c:showVal val="1"/>
              <c:showCatName val="0"/>
              <c:showSerName val="0"/>
              <c:showPercent val="0"/>
              <c:showBubbleSize val="0"/>
            </c:dLbl>
            <c:dLbl>
              <c:idx val="1"/>
              <c:numFmt formatCode="0&quot;%&quot;" sourceLinked="0"/>
              <c:spPr/>
              <c:txPr>
                <a:bodyPr/>
                <a:lstStyle/>
                <a:p>
                  <a:pPr>
                    <a:defRPr sz="1400" b="1" i="0" u="none" strike="noStrike">
                      <a:solidFill>
                        <a:srgbClr val="FFFFFF"/>
                      </a:solidFill>
                      <a:latin typeface="+mn-lt"/>
                    </a:defRPr>
                  </a:pPr>
                </a:p>
              </c:txPr>
              <c:showLegendKey val="0"/>
              <c:showVal val="1"/>
              <c:showCatName val="0"/>
              <c:showSerName val="0"/>
              <c:showPercent val="0"/>
              <c:showBubbleSize val="0"/>
            </c:dLbl>
            <c:dLbl>
              <c:idx val="2"/>
              <c:numFmt formatCode="0&quot;%&quot;" sourceLinked="0"/>
              <c:spPr/>
              <c:txPr>
                <a:bodyPr/>
                <a:lstStyle/>
                <a:p>
                  <a:pPr>
                    <a:defRPr sz="1400" b="1" i="0" u="none" strike="noStrike">
                      <a:solidFill>
                        <a:srgbClr val="FFFFFF"/>
                      </a:solidFill>
                      <a:latin typeface="+mn-lt"/>
                    </a:defRPr>
                  </a:pPr>
                </a:p>
              </c:txPr>
              <c:showLegendKey val="0"/>
              <c:showVal val="1"/>
              <c:showCatName val="0"/>
              <c:showSerName val="0"/>
              <c:showPercent val="0"/>
              <c:showBubbleSize val="0"/>
            </c:dLbl>
            <c:numFmt formatCode="0&quot;%&quot;"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Skills</c:v>
                </c:pt>
                <c:pt idx="1">
                  <c:v>Job title</c:v>
                </c:pt>
                <c:pt idx="2">
                  <c:v>Experience</c:v>
                </c:pt>
              </c:strCache>
            </c:strRef>
          </c:cat>
          <c:val>
            <c:numRef>
              <c:f>Sheet1!$B$2:$B$4</c:f>
              <c:numCache>
                <c:ptCount val="3"/>
                <c:pt idx="0">
                  <c:v>70</c:v>
                </c:pt>
                <c:pt idx="1">
                  <c:v>20</c:v>
                </c:pt>
                <c:pt idx="2">
                  <c:v>10</c:v>
                </c:pt>
              </c:numCache>
            </c:numRef>
          </c:val>
        </c:ser>
        <c:firstSliceAng val="0"/>
        <c:holeSize val="58"/>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the next 10 minutes: what the agent does, how you set it up, how it decides which jobs to apply for, and how you keep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Anyone who has searched for a job knows the loop. The agent takes over the routine part so you only spend time on interviews and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The only manual part is step one. After that the agent runs on its own at the time you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Setup page. Upload a resume and point out the detected skills. Credentials never leave the machine. If a portal asks for OTP or CAPTCHA, use the Sign in manually button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score in one sentence: mostly skills, plus title and experience. Jobs above the threshold you choose get an application. Everything else is logged as skipped so you can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the agent applies when it can do so safely. On company sites it fills the form only if it can answer every required field from your saved details. Otherwise it stops without submitting and tells you what it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Applications page. Walk left to right: date, job and company, portal, skills (green means you have it), match percent, status. Use the filters to show only today or only Needs manual apply. The summary line shows what the last run did. (Sample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a row to expand it. The full description is stored so you can review why a job was chosen, and the link opens the original posting, which is how you finish any Needs manual apply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trust slide. Start in dry run. Set conservative limits. Nothing leaves the machine, and the agent never bypasses CAPTCHA or account creation. When it is unsure it stops and hands the job to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Profile and Settings is where you tune behaviour. Application details are used on company sites: name, contact, notice period and salary expectations. Raise the minimum match to be pickier.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honest expectations. This is a productivity tool, not a guarantee of interviews. Portals change, and some steps need a human. We recommend modest daily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recommended rollout: dry run first, review matches, then go live with modest limits.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p:nvPr>
            <p:ph idx="101" type="title" hasCustomPrompt="1"/>
          </p:nvPr>
        </p:nvSpPr>
        <p:spPr>
          <a:xfrm>
            <a:off x="548640" y="1417320"/>
            <a:ext cx="4937760" cy="137160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4" name="Text 1"/>
          <p:cNvSpPr/>
          <p:nvPr>
            <p:ph idx="102" type="body" hasCustomPrompt="1"/>
          </p:nvPr>
        </p:nvSpPr>
        <p:spPr>
          <a:xfrm>
            <a:off x="548640" y="2926080"/>
            <a:ext cx="4572000" cy="100584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4F7F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457200" y="4773168"/>
            <a:ext cx="4572000" cy="228600"/>
          </a:xfrm>
          <a:prstGeom prst="rect">
            <a:avLst/>
          </a:prstGeom>
          <a:noFill/>
          <a:ln/>
        </p:spPr>
        <p:txBody>
          <a:bodyPr wrap="square" lIns="0" tIns="0" rIns="0" bIns="0" rtlCol="0" anchor="ctr"/>
          <a:lstStyle/>
          <a:p>
            <a:pPr indent="0" marL="0">
              <a:buNone/>
            </a:pPr>
            <a:r>
              <a:rPr lang="en-US" sz="1000" dirty="0">
                <a:solidFill>
                  <a:schemeClr val="accent5"/>
                </a:solidFill>
              </a:rPr>
              <a:t>Job Apply Agent  |  Product demo</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p:nvPr>
            <p:ph idx="101" type="title" hasCustomPrompt="1"/>
          </p:nvPr>
        </p:nvSpPr>
        <p:spPr>
          <a:xfrm>
            <a:off x="548640" y="640080"/>
            <a:ext cx="8046720" cy="8229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1417320"/>
            <a:ext cx="4937760" cy="1371600"/>
          </a:xfrm>
          <a:prstGeom prst="rect">
            <a:avLst/>
          </a:prstGeom>
          <a:noFill/>
          <a:ln/>
        </p:spPr>
        <p:txBody>
          <a:bodyPr wrap="square" lIns="0" tIns="0" rIns="0" bIns="0" rtlCol="0" anchor="b"/>
          <a:lstStyle/>
          <a:p>
            <a:pPr algn="l" indent="0" marL="0">
              <a:buNone/>
            </a:pPr>
            <a:r>
              <a:rPr lang="en-US" sz="4800" b="1" dirty="0">
                <a:solidFill>
                  <a:schemeClr val="bg1"/>
                </a:solidFill>
              </a:rPr>
              <a:t>Job Apply Agent</a:t>
            </a:r>
            <a:endParaRPr lang="en-US" sz="4800" dirty="0"/>
          </a:p>
        </p:txBody>
      </p:sp>
      <p:sp>
        <p:nvSpPr>
          <p:cNvPr id="3" name="Text 1"/>
          <p:cNvSpPr/>
          <p:nvPr>
            <p:ph idx="102" type="body" hasCustomPrompt="1"/>
          </p:nvPr>
        </p:nvSpPr>
        <p:spPr>
          <a:xfrm>
            <a:off x="548640" y="2926080"/>
            <a:ext cx="4572000" cy="1005840"/>
          </a:xfrm>
          <a:prstGeom prst="rect">
            <a:avLst/>
          </a:prstGeom>
          <a:noFill/>
          <a:ln/>
        </p:spPr>
        <p:txBody>
          <a:bodyPr wrap="square" lIns="0" tIns="0" rIns="0" bIns="0" rtlCol="0" anchor="t"/>
          <a:lstStyle/>
          <a:p>
            <a:pPr algn="l" indent="0" marL="0">
              <a:buNone/>
            </a:pPr>
            <a:r>
              <a:rPr lang="en-US" sz="1800" dirty="0">
                <a:solidFill>
                  <a:schemeClr val="bg2"/>
                </a:solidFill>
              </a:rPr>
              <a:t>Your daily job search on autopilot: Naukri, LinkedIn and Monster in one place.</a:t>
            </a:r>
            <a:endParaRPr lang="en-US" sz="1800" dirty="0"/>
          </a:p>
        </p:txBody>
      </p:sp>
      <p:sp>
        <p:nvSpPr>
          <p:cNvPr id="4" name="Demo label"/>
          <p:cNvSpPr txBox="1"/>
          <p:nvPr/>
        </p:nvSpPr>
        <p:spPr>
          <a:xfrm>
            <a:off x="548640" y="1097280"/>
            <a:ext cx="274320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PRODUCT DEMO</a:t>
            </a:r>
            <a:endParaRPr lang="en-US" sz="1200" dirty="0"/>
          </a:p>
        </p:txBody>
      </p:sp>
      <p:sp>
        <p:nvSpPr>
          <p:cNvPr id="5" name="Step card 1"/>
          <p:cNvSpPr/>
          <p:nvPr/>
        </p:nvSpPr>
        <p:spPr>
          <a:xfrm>
            <a:off x="5760720" y="1097280"/>
            <a:ext cx="2834640" cy="868680"/>
          </a:xfrm>
          <a:prstGeom prst="roundRect">
            <a:avLst>
              <a:gd name="adj" fmla="val 10526"/>
            </a:avLst>
          </a:prstGeom>
          <a:solidFill>
            <a:schemeClr val="tx2"/>
          </a:solidFill>
          <a:ln w="12700">
            <a:solidFill>
              <a:schemeClr val="tx2"/>
            </a:solidFill>
            <a:prstDash val="solid"/>
          </a:ln>
        </p:spPr>
      </p:sp>
      <p:sp>
        <p:nvSpPr>
          <p:cNvPr id="6" name="Step 1 circle"/>
          <p:cNvSpPr/>
          <p:nvPr/>
        </p:nvSpPr>
        <p:spPr>
          <a:xfrm>
            <a:off x="5943600" y="1280160"/>
            <a:ext cx="502920" cy="502920"/>
          </a:xfrm>
          <a:prstGeom prst="ellipse">
            <a:avLst/>
          </a:prstGeom>
          <a:solidFill>
            <a:schemeClr val="accent1"/>
          </a:solidFill>
          <a:ln w="12700">
            <a:solidFill>
              <a:schemeClr val="accent1"/>
            </a:solidFill>
            <a:prstDash val="solid"/>
          </a:ln>
        </p:spPr>
      </p:sp>
      <p:pic>
        <p:nvPicPr>
          <p:cNvPr id="7" name="Step 1 icon" descr="Upload icon">    </p:cNvPr>
          <p:cNvPicPr>
            <a:picLocks noChangeAspect="1"/>
          </p:cNvPicPr>
          <p:nvPr/>
        </p:nvPicPr>
        <p:blipFill>
          <a:blip r:embed="rId1"/>
          <a:stretch>
            <a:fillRect/>
          </a:stretch>
        </p:blipFill>
        <p:spPr>
          <a:xfrm>
            <a:off x="6074359" y="1410919"/>
            <a:ext cx="241402" cy="241402"/>
          </a:xfrm>
          <a:prstGeom prst="rect">
            <a:avLst/>
          </a:prstGeom>
        </p:spPr>
      </p:pic>
      <p:sp>
        <p:nvSpPr>
          <p:cNvPr id="8" name="Step label 1"/>
          <p:cNvSpPr txBox="1"/>
          <p:nvPr/>
        </p:nvSpPr>
        <p:spPr>
          <a:xfrm>
            <a:off x="6629400" y="1097280"/>
            <a:ext cx="1874520" cy="868680"/>
          </a:xfrm>
          <a:prstGeom prst="rect">
            <a:avLst/>
          </a:prstGeom>
          <a:noFill/>
          <a:ln/>
        </p:spPr>
        <p:txBody>
          <a:bodyPr wrap="square" lIns="0" tIns="0" rIns="0" bIns="0" rtlCol="0" anchor="ctr"/>
          <a:lstStyle/>
          <a:p>
            <a:pPr indent="0" marL="0">
              <a:buNone/>
            </a:pPr>
            <a:r>
              <a:rPr lang="en-US" sz="1600" b="1" dirty="0">
                <a:solidFill>
                  <a:schemeClr val="bg1"/>
                </a:solidFill>
              </a:rPr>
              <a:t>Upload your resume</a:t>
            </a:r>
            <a:endParaRPr lang="en-US" sz="1600" dirty="0"/>
          </a:p>
        </p:txBody>
      </p:sp>
      <p:sp>
        <p:nvSpPr>
          <p:cNvPr id="9" name="Step card 2"/>
          <p:cNvSpPr/>
          <p:nvPr/>
        </p:nvSpPr>
        <p:spPr>
          <a:xfrm>
            <a:off x="5760720" y="2194560"/>
            <a:ext cx="2834640" cy="868680"/>
          </a:xfrm>
          <a:prstGeom prst="roundRect">
            <a:avLst>
              <a:gd name="adj" fmla="val 10526"/>
            </a:avLst>
          </a:prstGeom>
          <a:solidFill>
            <a:schemeClr val="tx2"/>
          </a:solidFill>
          <a:ln w="12700">
            <a:solidFill>
              <a:schemeClr val="tx2"/>
            </a:solidFill>
            <a:prstDash val="solid"/>
          </a:ln>
        </p:spPr>
      </p:sp>
      <p:sp>
        <p:nvSpPr>
          <p:cNvPr id="10" name="Step 2 circle"/>
          <p:cNvSpPr/>
          <p:nvPr/>
        </p:nvSpPr>
        <p:spPr>
          <a:xfrm>
            <a:off x="5943600" y="2377440"/>
            <a:ext cx="502920" cy="502920"/>
          </a:xfrm>
          <a:prstGeom prst="ellipse">
            <a:avLst/>
          </a:prstGeom>
          <a:solidFill>
            <a:schemeClr val="accent1"/>
          </a:solidFill>
          <a:ln w="12700">
            <a:solidFill>
              <a:schemeClr val="accent1"/>
            </a:solidFill>
            <a:prstDash val="solid"/>
          </a:ln>
        </p:spPr>
      </p:sp>
      <p:pic>
        <p:nvPicPr>
          <p:cNvPr id="11" name="Step 2 icon" descr="Target icon">    </p:cNvPr>
          <p:cNvPicPr>
            <a:picLocks noChangeAspect="1"/>
          </p:cNvPicPr>
          <p:nvPr/>
        </p:nvPicPr>
        <p:blipFill>
          <a:blip r:embed="rId2"/>
          <a:stretch>
            <a:fillRect/>
          </a:stretch>
        </p:blipFill>
        <p:spPr>
          <a:xfrm>
            <a:off x="6074359" y="2508199"/>
            <a:ext cx="241402" cy="241402"/>
          </a:xfrm>
          <a:prstGeom prst="rect">
            <a:avLst/>
          </a:prstGeom>
        </p:spPr>
      </p:pic>
      <p:sp>
        <p:nvSpPr>
          <p:cNvPr id="12" name="Step label 2"/>
          <p:cNvSpPr txBox="1"/>
          <p:nvPr/>
        </p:nvSpPr>
        <p:spPr>
          <a:xfrm>
            <a:off x="6629400" y="2194560"/>
            <a:ext cx="1874520" cy="868680"/>
          </a:xfrm>
          <a:prstGeom prst="rect">
            <a:avLst/>
          </a:prstGeom>
          <a:noFill/>
          <a:ln/>
        </p:spPr>
        <p:txBody>
          <a:bodyPr wrap="square" lIns="0" tIns="0" rIns="0" bIns="0" rtlCol="0" anchor="ctr"/>
          <a:lstStyle/>
          <a:p>
            <a:pPr indent="0" marL="0">
              <a:buNone/>
            </a:pPr>
            <a:r>
              <a:rPr lang="en-US" sz="1600" b="1" dirty="0">
                <a:solidFill>
                  <a:schemeClr val="bg1"/>
                </a:solidFill>
              </a:rPr>
              <a:t>Jobs found and scored</a:t>
            </a:r>
            <a:endParaRPr lang="en-US" sz="1600" dirty="0"/>
          </a:p>
        </p:txBody>
      </p:sp>
      <p:sp>
        <p:nvSpPr>
          <p:cNvPr id="13" name="Step card 3"/>
          <p:cNvSpPr/>
          <p:nvPr/>
        </p:nvSpPr>
        <p:spPr>
          <a:xfrm>
            <a:off x="5760720" y="3291840"/>
            <a:ext cx="2834640" cy="868680"/>
          </a:xfrm>
          <a:prstGeom prst="roundRect">
            <a:avLst>
              <a:gd name="adj" fmla="val 10526"/>
            </a:avLst>
          </a:prstGeom>
          <a:solidFill>
            <a:schemeClr val="tx2"/>
          </a:solidFill>
          <a:ln w="12700">
            <a:solidFill>
              <a:schemeClr val="tx2"/>
            </a:solidFill>
            <a:prstDash val="solid"/>
          </a:ln>
        </p:spPr>
      </p:sp>
      <p:sp>
        <p:nvSpPr>
          <p:cNvPr id="14" name="Step 3 circle"/>
          <p:cNvSpPr/>
          <p:nvPr/>
        </p:nvSpPr>
        <p:spPr>
          <a:xfrm>
            <a:off x="5943600" y="3474720"/>
            <a:ext cx="502920" cy="502920"/>
          </a:xfrm>
          <a:prstGeom prst="ellipse">
            <a:avLst/>
          </a:prstGeom>
          <a:solidFill>
            <a:schemeClr val="accent1"/>
          </a:solidFill>
          <a:ln w="12700">
            <a:solidFill>
              <a:schemeClr val="accent1"/>
            </a:solidFill>
            <a:prstDash val="solid"/>
          </a:ln>
        </p:spPr>
      </p:sp>
      <p:pic>
        <p:nvPicPr>
          <p:cNvPr id="15" name="Step 3 icon" descr="Send icon">    </p:cNvPr>
          <p:cNvPicPr>
            <a:picLocks noChangeAspect="1"/>
          </p:cNvPicPr>
          <p:nvPr/>
        </p:nvPicPr>
        <p:blipFill>
          <a:blip r:embed="rId3"/>
          <a:stretch>
            <a:fillRect/>
          </a:stretch>
        </p:blipFill>
        <p:spPr>
          <a:xfrm>
            <a:off x="6074359" y="3605479"/>
            <a:ext cx="241402" cy="241402"/>
          </a:xfrm>
          <a:prstGeom prst="rect">
            <a:avLst/>
          </a:prstGeom>
        </p:spPr>
      </p:pic>
      <p:sp>
        <p:nvSpPr>
          <p:cNvPr id="16" name="Step label 3"/>
          <p:cNvSpPr txBox="1"/>
          <p:nvPr/>
        </p:nvSpPr>
        <p:spPr>
          <a:xfrm>
            <a:off x="6629400" y="3291840"/>
            <a:ext cx="1874520" cy="868680"/>
          </a:xfrm>
          <a:prstGeom prst="rect">
            <a:avLst/>
          </a:prstGeom>
          <a:noFill/>
          <a:ln/>
        </p:spPr>
        <p:txBody>
          <a:bodyPr wrap="square" lIns="0" tIns="0" rIns="0" bIns="0" rtlCol="0" anchor="ctr"/>
          <a:lstStyle/>
          <a:p>
            <a:pPr indent="0" marL="0">
              <a:buNone/>
            </a:pPr>
            <a:r>
              <a:rPr lang="en-US" sz="1600" b="1" dirty="0">
                <a:solidFill>
                  <a:schemeClr val="bg1"/>
                </a:solidFill>
              </a:rPr>
              <a:t>Applications sent daily</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Job hunting is repetitive</a:t>
            </a:r>
            <a:endParaRPr lang="en-US" sz="3600" dirty="0"/>
          </a:p>
        </p:txBody>
      </p:sp>
      <p:sp>
        <p:nvSpPr>
          <p:cNvPr id="3" name="Problem 1 circle"/>
          <p:cNvSpPr/>
          <p:nvPr/>
        </p:nvSpPr>
        <p:spPr>
          <a:xfrm>
            <a:off x="457200" y="1371600"/>
            <a:ext cx="502920" cy="502920"/>
          </a:xfrm>
          <a:prstGeom prst="ellipse">
            <a:avLst/>
          </a:prstGeom>
          <a:solidFill>
            <a:schemeClr val="accent1"/>
          </a:solidFill>
          <a:ln w="12700">
            <a:solidFill>
              <a:schemeClr val="accent1"/>
            </a:solidFill>
            <a:prstDash val="solid"/>
          </a:ln>
        </p:spPr>
      </p:sp>
      <p:pic>
        <p:nvPicPr>
          <p:cNvPr id="4" name="Problem 1 icon" descr="Repeat icon">    </p:cNvPr>
          <p:cNvPicPr>
            <a:picLocks noChangeAspect="1"/>
          </p:cNvPicPr>
          <p:nvPr/>
        </p:nvPicPr>
        <p:blipFill>
          <a:blip r:embed="rId1"/>
          <a:stretch>
            <a:fillRect/>
          </a:stretch>
        </p:blipFill>
        <p:spPr>
          <a:xfrm>
            <a:off x="587959" y="1502359"/>
            <a:ext cx="241402" cy="241402"/>
          </a:xfrm>
          <a:prstGeom prst="rect">
            <a:avLst/>
          </a:prstGeom>
        </p:spPr>
      </p:pic>
      <p:sp>
        <p:nvSpPr>
          <p:cNvPr id="5" name="Problem 1 text"/>
          <p:cNvSpPr txBox="1"/>
          <p:nvPr/>
        </p:nvSpPr>
        <p:spPr>
          <a:xfrm>
            <a:off x="1143000" y="1325880"/>
            <a:ext cx="4069080" cy="685800"/>
          </a:xfrm>
          <a:prstGeom prst="rect">
            <a:avLst/>
          </a:prstGeom>
          <a:noFill/>
          <a:ln/>
        </p:spPr>
        <p:txBody>
          <a:bodyPr wrap="square" lIns="0" tIns="0" rIns="0" bIns="0" rtlCol="0" anchor="t"/>
          <a:lstStyle/>
          <a:p>
            <a:pPr indent="0" marL="0">
              <a:buNone/>
            </a:pPr>
            <a:r>
              <a:rPr lang="en-US" sz="1600" b="1" dirty="0">
                <a:solidFill>
                  <a:schemeClr val="tx1"/>
                </a:solidFill>
              </a:rPr>
              <a:t>Same portals, every day</a:t>
            </a:r>
            <a:endParaRPr lang="en-US" sz="1600" dirty="0"/>
          </a:p>
          <a:p>
            <a:pPr indent="0" marL="0">
              <a:buNone/>
            </a:pPr>
            <a:r>
              <a:rPr lang="en-US" sz="1400" dirty="0">
                <a:solidFill>
                  <a:schemeClr val="accent5"/>
                </a:solidFill>
              </a:rPr>
              <a:t>Search Naukri, LinkedIn and Monster again and again</a:t>
            </a:r>
            <a:endParaRPr lang="en-US" sz="1600" dirty="0"/>
          </a:p>
        </p:txBody>
      </p:sp>
      <p:sp>
        <p:nvSpPr>
          <p:cNvPr id="6" name="Problem 2 circle"/>
          <p:cNvSpPr/>
          <p:nvPr/>
        </p:nvSpPr>
        <p:spPr>
          <a:xfrm>
            <a:off x="457200" y="2468880"/>
            <a:ext cx="502920" cy="502920"/>
          </a:xfrm>
          <a:prstGeom prst="ellipse">
            <a:avLst/>
          </a:prstGeom>
          <a:solidFill>
            <a:schemeClr val="accent1"/>
          </a:solidFill>
          <a:ln w="12700">
            <a:solidFill>
              <a:schemeClr val="accent1"/>
            </a:solidFill>
            <a:prstDash val="solid"/>
          </a:ln>
        </p:spPr>
      </p:sp>
      <p:pic>
        <p:nvPicPr>
          <p:cNvPr id="7" name="Problem 2 icon" descr="FileText icon">    </p:cNvPr>
          <p:cNvPicPr>
            <a:picLocks noChangeAspect="1"/>
          </p:cNvPicPr>
          <p:nvPr/>
        </p:nvPicPr>
        <p:blipFill>
          <a:blip r:embed="rId2"/>
          <a:stretch>
            <a:fillRect/>
          </a:stretch>
        </p:blipFill>
        <p:spPr>
          <a:xfrm>
            <a:off x="587959" y="2599639"/>
            <a:ext cx="241402" cy="241402"/>
          </a:xfrm>
          <a:prstGeom prst="rect">
            <a:avLst/>
          </a:prstGeom>
        </p:spPr>
      </p:pic>
      <p:sp>
        <p:nvSpPr>
          <p:cNvPr id="8" name="Problem 2 text"/>
          <p:cNvSpPr txBox="1"/>
          <p:nvPr/>
        </p:nvSpPr>
        <p:spPr>
          <a:xfrm>
            <a:off x="1143000" y="2423160"/>
            <a:ext cx="4069080" cy="685800"/>
          </a:xfrm>
          <a:prstGeom prst="rect">
            <a:avLst/>
          </a:prstGeom>
          <a:noFill/>
          <a:ln/>
        </p:spPr>
        <p:txBody>
          <a:bodyPr wrap="square" lIns="0" tIns="0" rIns="0" bIns="0" rtlCol="0" anchor="t"/>
          <a:lstStyle/>
          <a:p>
            <a:pPr indent="0" marL="0">
              <a:buNone/>
            </a:pPr>
            <a:r>
              <a:rPr lang="en-US" sz="1600" b="1" dirty="0">
                <a:solidFill>
                  <a:schemeClr val="tx1"/>
                </a:solidFill>
              </a:rPr>
              <a:t>Long descriptions</a:t>
            </a:r>
            <a:endParaRPr lang="en-US" sz="1600" dirty="0"/>
          </a:p>
          <a:p>
            <a:pPr indent="0" marL="0">
              <a:buNone/>
            </a:pPr>
            <a:r>
              <a:rPr lang="en-US" sz="1400" dirty="0">
                <a:solidFill>
                  <a:schemeClr val="accent5"/>
                </a:solidFill>
              </a:rPr>
              <a:t>Read each one to judge whether you really fit</a:t>
            </a:r>
            <a:endParaRPr lang="en-US" sz="1600" dirty="0"/>
          </a:p>
        </p:txBody>
      </p:sp>
      <p:sp>
        <p:nvSpPr>
          <p:cNvPr id="9" name="Problem 3 circle"/>
          <p:cNvSpPr/>
          <p:nvPr/>
        </p:nvSpPr>
        <p:spPr>
          <a:xfrm>
            <a:off x="457200" y="3566160"/>
            <a:ext cx="502920" cy="502920"/>
          </a:xfrm>
          <a:prstGeom prst="ellipse">
            <a:avLst/>
          </a:prstGeom>
          <a:solidFill>
            <a:schemeClr val="accent1"/>
          </a:solidFill>
          <a:ln w="12700">
            <a:solidFill>
              <a:schemeClr val="accent1"/>
            </a:solidFill>
            <a:prstDash val="solid"/>
          </a:ln>
        </p:spPr>
      </p:sp>
      <p:pic>
        <p:nvPicPr>
          <p:cNvPr id="10" name="Problem 3 icon" descr="Edit3 icon">    </p:cNvPr>
          <p:cNvPicPr>
            <a:picLocks noChangeAspect="1"/>
          </p:cNvPicPr>
          <p:nvPr/>
        </p:nvPicPr>
        <p:blipFill>
          <a:blip r:embed="rId3"/>
          <a:stretch>
            <a:fillRect/>
          </a:stretch>
        </p:blipFill>
        <p:spPr>
          <a:xfrm>
            <a:off x="587959" y="3696919"/>
            <a:ext cx="241402" cy="241402"/>
          </a:xfrm>
          <a:prstGeom prst="rect">
            <a:avLst/>
          </a:prstGeom>
        </p:spPr>
      </p:pic>
      <p:sp>
        <p:nvSpPr>
          <p:cNvPr id="11" name="Problem 3 text"/>
          <p:cNvSpPr txBox="1"/>
          <p:nvPr/>
        </p:nvSpPr>
        <p:spPr>
          <a:xfrm>
            <a:off x="1143000" y="3520440"/>
            <a:ext cx="4069080" cy="685800"/>
          </a:xfrm>
          <a:prstGeom prst="rect">
            <a:avLst/>
          </a:prstGeom>
          <a:noFill/>
          <a:ln/>
        </p:spPr>
        <p:txBody>
          <a:bodyPr wrap="square" lIns="0" tIns="0" rIns="0" bIns="0" rtlCol="0" anchor="t"/>
          <a:lstStyle/>
          <a:p>
            <a:pPr indent="0" marL="0">
              <a:buNone/>
            </a:pPr>
            <a:r>
              <a:rPr lang="en-US" sz="1600" b="1" dirty="0">
                <a:solidFill>
                  <a:schemeClr val="tx1"/>
                </a:solidFill>
              </a:rPr>
              <a:t>The same forms</a:t>
            </a:r>
            <a:endParaRPr lang="en-US" sz="1600" dirty="0"/>
          </a:p>
          <a:p>
            <a:pPr indent="0" marL="0">
              <a:buNone/>
            </a:pPr>
            <a:r>
              <a:rPr lang="en-US" sz="1400" dirty="0">
                <a:solidFill>
                  <a:schemeClr val="accent5"/>
                </a:solidFill>
              </a:rPr>
              <a:t>Retype your details on every company career site</a:t>
            </a:r>
            <a:endParaRPr lang="en-US" sz="1600" dirty="0"/>
          </a:p>
        </p:txBody>
      </p:sp>
      <p:sp>
        <p:nvSpPr>
          <p:cNvPr id="12" name="Quote card"/>
          <p:cNvSpPr/>
          <p:nvPr/>
        </p:nvSpPr>
        <p:spPr>
          <a:xfrm>
            <a:off x="5669280" y="1280160"/>
            <a:ext cx="3017520" cy="3200400"/>
          </a:xfrm>
          <a:prstGeom prst="roundRect">
            <a:avLst>
              <a:gd name="adj" fmla="val 3030"/>
            </a:avLst>
          </a:prstGeom>
          <a:solidFill>
            <a:schemeClr val="tx1"/>
          </a:solidFill>
          <a:ln w="12700">
            <a:solidFill>
              <a:schemeClr val="tx1"/>
            </a:solidFill>
            <a:prstDash val="solid"/>
          </a:ln>
          <a:effectLst>
            <a:outerShdw sx="100000" sy="100000" kx="0" ky="0" algn="bl" rotWithShape="0" blurRad="101600" dist="25400" dir="5400000">
              <a:srgbClr val="000000">
                <a:alpha val="12000"/>
              </a:srgbClr>
            </a:outerShdw>
          </a:effectLst>
        </p:spPr>
      </p:sp>
      <p:sp>
        <p:nvSpPr>
          <p:cNvPr id="13" name="Quote text"/>
          <p:cNvSpPr txBox="1"/>
          <p:nvPr/>
        </p:nvSpPr>
        <p:spPr>
          <a:xfrm>
            <a:off x="5989320" y="1463040"/>
            <a:ext cx="2468880" cy="2834640"/>
          </a:xfrm>
          <a:prstGeom prst="rect">
            <a:avLst/>
          </a:prstGeom>
          <a:noFill/>
          <a:ln/>
        </p:spPr>
        <p:txBody>
          <a:bodyPr wrap="square" lIns="0" tIns="0" rIns="0" bIns="0" rtlCol="0" anchor="ctr"/>
          <a:lstStyle/>
          <a:p>
            <a:pPr indent="0" marL="0">
              <a:buNone/>
            </a:pPr>
            <a:r>
              <a:rPr lang="en-US" sz="2800" b="1" dirty="0">
                <a:solidFill>
                  <a:schemeClr val="bg1"/>
                </a:solidFill>
                <a:latin typeface="Cambria" pitchFamily="34" charset="0"/>
                <a:ea typeface="Cambria" pitchFamily="34" charset="-122"/>
                <a:cs typeface="Cambria" pitchFamily="34" charset="-120"/>
              </a:rPr>
              <a:t>Same steps.</a:t>
            </a:r>
            <a:endParaRPr lang="en-US" sz="2800" dirty="0"/>
          </a:p>
          <a:p>
            <a:pPr indent="0" marL="0">
              <a:buNone/>
            </a:pPr>
            <a:r>
              <a:rPr lang="en-US" sz="2800" b="1" dirty="0">
                <a:solidFill>
                  <a:schemeClr val="bg1"/>
                </a:solidFill>
                <a:latin typeface="Cambria" pitchFamily="34" charset="0"/>
                <a:ea typeface="Cambria" pitchFamily="34" charset="-122"/>
                <a:cs typeface="Cambria" pitchFamily="34" charset="-120"/>
              </a:rPr>
              <a:t>Every day.</a:t>
            </a:r>
            <a:endParaRPr lang="en-US" sz="2800" dirty="0"/>
          </a:p>
          <a:p>
            <a:pPr indent="0" marL="0">
              <a:buNone/>
            </a:pPr>
            <a:r>
              <a:rPr lang="en-US" sz="2800" b="1" dirty="0">
                <a:solidFill>
                  <a:schemeClr val="accent1"/>
                </a:solidFill>
                <a:latin typeface="Cambria" pitchFamily="34" charset="0"/>
                <a:ea typeface="Cambria" pitchFamily="34" charset="-122"/>
                <a:cs typeface="Cambria" pitchFamily="34" charset="-120"/>
              </a:rPr>
              <a:t>Every portal.</a:t>
            </a:r>
            <a:endParaRPr lang="en-US" sz="28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One agent, four steps</a:t>
            </a:r>
            <a:endParaRPr lang="en-US" sz="3600" dirty="0"/>
          </a:p>
        </p:txBody>
      </p:sp>
      <p:sp>
        <p:nvSpPr>
          <p:cNvPr id="3" name="Flow card 1"/>
          <p:cNvSpPr/>
          <p:nvPr/>
        </p:nvSpPr>
        <p:spPr>
          <a:xfrm>
            <a:off x="457200" y="1371600"/>
            <a:ext cx="1920240" cy="2834640"/>
          </a:xfrm>
          <a:prstGeom prst="roundRect">
            <a:avLst>
              <a:gd name="adj" fmla="val 3810"/>
            </a:avLst>
          </a:prstGeom>
          <a:solidFill>
            <a:schemeClr val="bg1"/>
          </a:solidFill>
          <a:ln w="6350">
            <a:solidFill>
              <a:srgbClr val="F4F7FA"/>
            </a:solidFill>
            <a:prstDash val="solid"/>
          </a:ln>
          <a:effectLst>
            <a:outerShdw sx="100000" sy="100000" kx="0" ky="0" algn="bl" rotWithShape="0" blurRad="101600" dist="25400" dir="5400000">
              <a:srgbClr val="000000">
                <a:alpha val="12000"/>
              </a:srgbClr>
            </a:outerShdw>
          </a:effectLst>
        </p:spPr>
      </p:sp>
      <p:sp>
        <p:nvSpPr>
          <p:cNvPr id="4" name="Flow 1 circle"/>
          <p:cNvSpPr/>
          <p:nvPr/>
        </p:nvSpPr>
        <p:spPr>
          <a:xfrm>
            <a:off x="1165860" y="1600200"/>
            <a:ext cx="502920" cy="502920"/>
          </a:xfrm>
          <a:prstGeom prst="ellipse">
            <a:avLst/>
          </a:prstGeom>
          <a:solidFill>
            <a:schemeClr val="accent1"/>
          </a:solidFill>
          <a:ln w="12700">
            <a:solidFill>
              <a:schemeClr val="accent1"/>
            </a:solidFill>
            <a:prstDash val="solid"/>
          </a:ln>
        </p:spPr>
      </p:sp>
      <p:pic>
        <p:nvPicPr>
          <p:cNvPr id="5" name="Flow 1 icon" descr="Upload icon">    </p:cNvPr>
          <p:cNvPicPr>
            <a:picLocks noChangeAspect="1"/>
          </p:cNvPicPr>
          <p:nvPr/>
        </p:nvPicPr>
        <p:blipFill>
          <a:blip r:embed="rId1"/>
          <a:stretch>
            <a:fillRect/>
          </a:stretch>
        </p:blipFill>
        <p:spPr>
          <a:xfrm>
            <a:off x="1296619" y="1730959"/>
            <a:ext cx="241402" cy="241402"/>
          </a:xfrm>
          <a:prstGeom prst="rect">
            <a:avLst/>
          </a:prstGeom>
        </p:spPr>
      </p:pic>
      <p:sp>
        <p:nvSpPr>
          <p:cNvPr id="6" name="Flow title 1"/>
          <p:cNvSpPr txBox="1"/>
          <p:nvPr/>
        </p:nvSpPr>
        <p:spPr>
          <a:xfrm>
            <a:off x="594360" y="2286000"/>
            <a:ext cx="1645920" cy="365760"/>
          </a:xfrm>
          <a:prstGeom prst="rect">
            <a:avLst/>
          </a:prstGeom>
          <a:noFill/>
          <a:ln/>
        </p:spPr>
        <p:txBody>
          <a:bodyPr wrap="square" lIns="0" tIns="0" rIns="0" bIns="0" rtlCol="0" anchor="ctr"/>
          <a:lstStyle/>
          <a:p>
            <a:pPr algn="ctr" indent="0" marL="0">
              <a:buNone/>
            </a:pPr>
            <a:r>
              <a:rPr lang="en-US" sz="1800" b="1" dirty="0">
                <a:solidFill>
                  <a:schemeClr val="tx1"/>
                </a:solidFill>
              </a:rPr>
              <a:t>1. Upload</a:t>
            </a:r>
            <a:endParaRPr lang="en-US" sz="1800" dirty="0"/>
          </a:p>
        </p:txBody>
      </p:sp>
      <p:sp>
        <p:nvSpPr>
          <p:cNvPr id="7" name="Flow body 1"/>
          <p:cNvSpPr txBox="1"/>
          <p:nvPr/>
        </p:nvSpPr>
        <p:spPr>
          <a:xfrm>
            <a:off x="594360" y="2697480"/>
            <a:ext cx="1645920" cy="1371600"/>
          </a:xfrm>
          <a:prstGeom prst="rect">
            <a:avLst/>
          </a:prstGeom>
          <a:noFill/>
          <a:ln/>
        </p:spPr>
        <p:txBody>
          <a:bodyPr wrap="square" lIns="0" tIns="0" rIns="0" bIns="0" rtlCol="0" anchor="t"/>
          <a:lstStyle/>
          <a:p>
            <a:pPr algn="ctr" indent="0" marL="0">
              <a:buNone/>
            </a:pPr>
            <a:r>
              <a:rPr lang="en-US" sz="1400" dirty="0">
                <a:solidFill>
                  <a:schemeClr val="accent5"/>
                </a:solidFill>
              </a:rPr>
              <a:t>Add your resume once. Skills, roles and experience are detected.</a:t>
            </a:r>
            <a:endParaRPr lang="en-US" sz="1400" dirty="0"/>
          </a:p>
        </p:txBody>
      </p:sp>
      <p:pic>
        <p:nvPicPr>
          <p:cNvPr id="8" name="Arrow 1" descr="arrow">    </p:cNvPr>
          <p:cNvPicPr>
            <a:picLocks noChangeAspect="1"/>
          </p:cNvPicPr>
          <p:nvPr/>
        </p:nvPicPr>
        <p:blipFill>
          <a:blip r:embed="rId2"/>
          <a:stretch>
            <a:fillRect/>
          </a:stretch>
        </p:blipFill>
        <p:spPr>
          <a:xfrm>
            <a:off x="2377440" y="2606040"/>
            <a:ext cx="182880" cy="182880"/>
          </a:xfrm>
          <a:prstGeom prst="rect">
            <a:avLst/>
          </a:prstGeom>
        </p:spPr>
      </p:pic>
      <p:sp>
        <p:nvSpPr>
          <p:cNvPr id="9" name="Flow card 2"/>
          <p:cNvSpPr/>
          <p:nvPr/>
        </p:nvSpPr>
        <p:spPr>
          <a:xfrm>
            <a:off x="2560320" y="1371600"/>
            <a:ext cx="1920240" cy="2834640"/>
          </a:xfrm>
          <a:prstGeom prst="roundRect">
            <a:avLst>
              <a:gd name="adj" fmla="val 3810"/>
            </a:avLst>
          </a:prstGeom>
          <a:solidFill>
            <a:schemeClr val="bg1"/>
          </a:solidFill>
          <a:ln w="6350">
            <a:solidFill>
              <a:srgbClr val="F4F7FA"/>
            </a:solidFill>
            <a:prstDash val="solid"/>
          </a:ln>
          <a:effectLst>
            <a:outerShdw sx="100000" sy="100000" kx="0" ky="0" algn="bl" rotWithShape="0" blurRad="101600" dist="25400" dir="5400000">
              <a:srgbClr val="000000">
                <a:alpha val="12000"/>
              </a:srgbClr>
            </a:outerShdw>
          </a:effectLst>
        </p:spPr>
      </p:sp>
      <p:sp>
        <p:nvSpPr>
          <p:cNvPr id="10" name="Flow 2 circle"/>
          <p:cNvSpPr/>
          <p:nvPr/>
        </p:nvSpPr>
        <p:spPr>
          <a:xfrm>
            <a:off x="3268980" y="1600200"/>
            <a:ext cx="502920" cy="502920"/>
          </a:xfrm>
          <a:prstGeom prst="ellipse">
            <a:avLst/>
          </a:prstGeom>
          <a:solidFill>
            <a:schemeClr val="accent1"/>
          </a:solidFill>
          <a:ln w="12700">
            <a:solidFill>
              <a:schemeClr val="accent1"/>
            </a:solidFill>
            <a:prstDash val="solid"/>
          </a:ln>
        </p:spPr>
      </p:sp>
      <p:pic>
        <p:nvPicPr>
          <p:cNvPr id="11" name="Flow 2 icon" descr="Search icon">    </p:cNvPr>
          <p:cNvPicPr>
            <a:picLocks noChangeAspect="1"/>
          </p:cNvPicPr>
          <p:nvPr/>
        </p:nvPicPr>
        <p:blipFill>
          <a:blip r:embed="rId3"/>
          <a:stretch>
            <a:fillRect/>
          </a:stretch>
        </p:blipFill>
        <p:spPr>
          <a:xfrm>
            <a:off x="3399739" y="1730959"/>
            <a:ext cx="241402" cy="241402"/>
          </a:xfrm>
          <a:prstGeom prst="rect">
            <a:avLst/>
          </a:prstGeom>
        </p:spPr>
      </p:pic>
      <p:sp>
        <p:nvSpPr>
          <p:cNvPr id="12" name="Flow title 2"/>
          <p:cNvSpPr txBox="1"/>
          <p:nvPr/>
        </p:nvSpPr>
        <p:spPr>
          <a:xfrm>
            <a:off x="2697480" y="2286000"/>
            <a:ext cx="1645920" cy="365760"/>
          </a:xfrm>
          <a:prstGeom prst="rect">
            <a:avLst/>
          </a:prstGeom>
          <a:noFill/>
          <a:ln/>
        </p:spPr>
        <p:txBody>
          <a:bodyPr wrap="square" lIns="0" tIns="0" rIns="0" bIns="0" rtlCol="0" anchor="ctr"/>
          <a:lstStyle/>
          <a:p>
            <a:pPr algn="ctr" indent="0" marL="0">
              <a:buNone/>
            </a:pPr>
            <a:r>
              <a:rPr lang="en-US" sz="1800" b="1" dirty="0">
                <a:solidFill>
                  <a:schemeClr val="tx1"/>
                </a:solidFill>
              </a:rPr>
              <a:t>2. Search</a:t>
            </a:r>
            <a:endParaRPr lang="en-US" sz="1800" dirty="0"/>
          </a:p>
        </p:txBody>
      </p:sp>
      <p:sp>
        <p:nvSpPr>
          <p:cNvPr id="13" name="Flow body 2"/>
          <p:cNvSpPr txBox="1"/>
          <p:nvPr/>
        </p:nvSpPr>
        <p:spPr>
          <a:xfrm>
            <a:off x="2697480" y="2697480"/>
            <a:ext cx="1645920" cy="1371600"/>
          </a:xfrm>
          <a:prstGeom prst="rect">
            <a:avLst/>
          </a:prstGeom>
          <a:noFill/>
          <a:ln/>
        </p:spPr>
        <p:txBody>
          <a:bodyPr wrap="square" lIns="0" tIns="0" rIns="0" bIns="0" rtlCol="0" anchor="t"/>
          <a:lstStyle/>
          <a:p>
            <a:pPr algn="ctr" indent="0" marL="0">
              <a:buNone/>
            </a:pPr>
            <a:r>
              <a:rPr lang="en-US" sz="1400" dirty="0">
                <a:solidFill>
                  <a:schemeClr val="accent5"/>
                </a:solidFill>
              </a:rPr>
              <a:t>Every day the agent searches your portals for matching roles.</a:t>
            </a:r>
            <a:endParaRPr lang="en-US" sz="1400" dirty="0"/>
          </a:p>
        </p:txBody>
      </p:sp>
      <p:pic>
        <p:nvPicPr>
          <p:cNvPr id="14" name="Arrow 2" descr="arrow">    </p:cNvPr>
          <p:cNvPicPr>
            <a:picLocks noChangeAspect="1"/>
          </p:cNvPicPr>
          <p:nvPr/>
        </p:nvPicPr>
        <p:blipFill>
          <a:blip r:embed="rId4"/>
          <a:stretch>
            <a:fillRect/>
          </a:stretch>
        </p:blipFill>
        <p:spPr>
          <a:xfrm>
            <a:off x="4480560" y="2606040"/>
            <a:ext cx="182880" cy="182880"/>
          </a:xfrm>
          <a:prstGeom prst="rect">
            <a:avLst/>
          </a:prstGeom>
        </p:spPr>
      </p:pic>
      <p:sp>
        <p:nvSpPr>
          <p:cNvPr id="15" name="Flow card 3"/>
          <p:cNvSpPr/>
          <p:nvPr/>
        </p:nvSpPr>
        <p:spPr>
          <a:xfrm>
            <a:off x="4663440" y="1371600"/>
            <a:ext cx="1920240" cy="2834640"/>
          </a:xfrm>
          <a:prstGeom prst="roundRect">
            <a:avLst>
              <a:gd name="adj" fmla="val 3810"/>
            </a:avLst>
          </a:prstGeom>
          <a:solidFill>
            <a:schemeClr val="bg1"/>
          </a:solidFill>
          <a:ln w="6350">
            <a:solidFill>
              <a:srgbClr val="F4F7FA"/>
            </a:solidFill>
            <a:prstDash val="solid"/>
          </a:ln>
          <a:effectLst>
            <a:outerShdw sx="100000" sy="100000" kx="0" ky="0" algn="bl" rotWithShape="0" blurRad="101600" dist="25400" dir="5400000">
              <a:srgbClr val="000000">
                <a:alpha val="12000"/>
              </a:srgbClr>
            </a:outerShdw>
          </a:effectLst>
        </p:spPr>
      </p:sp>
      <p:sp>
        <p:nvSpPr>
          <p:cNvPr id="16" name="Flow 3 circle"/>
          <p:cNvSpPr/>
          <p:nvPr/>
        </p:nvSpPr>
        <p:spPr>
          <a:xfrm>
            <a:off x="5372100" y="1600200"/>
            <a:ext cx="502920" cy="502920"/>
          </a:xfrm>
          <a:prstGeom prst="ellipse">
            <a:avLst/>
          </a:prstGeom>
          <a:solidFill>
            <a:schemeClr val="accent1"/>
          </a:solidFill>
          <a:ln w="12700">
            <a:solidFill>
              <a:schemeClr val="accent1"/>
            </a:solidFill>
            <a:prstDash val="solid"/>
          </a:ln>
        </p:spPr>
      </p:sp>
      <p:pic>
        <p:nvPicPr>
          <p:cNvPr id="17" name="Flow 3 icon" descr="Target icon">    </p:cNvPr>
          <p:cNvPicPr>
            <a:picLocks noChangeAspect="1"/>
          </p:cNvPicPr>
          <p:nvPr/>
        </p:nvPicPr>
        <p:blipFill>
          <a:blip r:embed="rId5"/>
          <a:stretch>
            <a:fillRect/>
          </a:stretch>
        </p:blipFill>
        <p:spPr>
          <a:xfrm>
            <a:off x="5502859" y="1730959"/>
            <a:ext cx="241402" cy="241402"/>
          </a:xfrm>
          <a:prstGeom prst="rect">
            <a:avLst/>
          </a:prstGeom>
        </p:spPr>
      </p:pic>
      <p:sp>
        <p:nvSpPr>
          <p:cNvPr id="18" name="Flow title 3"/>
          <p:cNvSpPr txBox="1"/>
          <p:nvPr/>
        </p:nvSpPr>
        <p:spPr>
          <a:xfrm>
            <a:off x="4800600" y="2286000"/>
            <a:ext cx="1645920" cy="365760"/>
          </a:xfrm>
          <a:prstGeom prst="rect">
            <a:avLst/>
          </a:prstGeom>
          <a:noFill/>
          <a:ln/>
        </p:spPr>
        <p:txBody>
          <a:bodyPr wrap="square" lIns="0" tIns="0" rIns="0" bIns="0" rtlCol="0" anchor="ctr"/>
          <a:lstStyle/>
          <a:p>
            <a:pPr algn="ctr" indent="0" marL="0">
              <a:buNone/>
            </a:pPr>
            <a:r>
              <a:rPr lang="en-US" sz="1800" b="1" dirty="0">
                <a:solidFill>
                  <a:schemeClr val="tx1"/>
                </a:solidFill>
              </a:rPr>
              <a:t>3. Apply</a:t>
            </a:r>
            <a:endParaRPr lang="en-US" sz="1800" dirty="0"/>
          </a:p>
        </p:txBody>
      </p:sp>
      <p:sp>
        <p:nvSpPr>
          <p:cNvPr id="19" name="Flow body 3"/>
          <p:cNvSpPr txBox="1"/>
          <p:nvPr/>
        </p:nvSpPr>
        <p:spPr>
          <a:xfrm>
            <a:off x="4800600" y="2697480"/>
            <a:ext cx="1645920" cy="1371600"/>
          </a:xfrm>
          <a:prstGeom prst="rect">
            <a:avLst/>
          </a:prstGeom>
          <a:noFill/>
          <a:ln/>
        </p:spPr>
        <p:txBody>
          <a:bodyPr wrap="square" lIns="0" tIns="0" rIns="0" bIns="0" rtlCol="0" anchor="t"/>
          <a:lstStyle/>
          <a:p>
            <a:pPr algn="ctr" indent="0" marL="0">
              <a:buNone/>
            </a:pPr>
            <a:r>
              <a:rPr lang="en-US" sz="1400" dirty="0">
                <a:solidFill>
                  <a:schemeClr val="accent5"/>
                </a:solidFill>
              </a:rPr>
              <a:t>Each job gets a match %. Good matches are applied to.</a:t>
            </a:r>
            <a:endParaRPr lang="en-US" sz="1400" dirty="0"/>
          </a:p>
        </p:txBody>
      </p:sp>
      <p:pic>
        <p:nvPicPr>
          <p:cNvPr id="20" name="Arrow 3" descr="arrow">    </p:cNvPr>
          <p:cNvPicPr>
            <a:picLocks noChangeAspect="1"/>
          </p:cNvPicPr>
          <p:nvPr/>
        </p:nvPicPr>
        <p:blipFill>
          <a:blip r:embed="rId6"/>
          <a:stretch>
            <a:fillRect/>
          </a:stretch>
        </p:blipFill>
        <p:spPr>
          <a:xfrm>
            <a:off x="6583680" y="2606040"/>
            <a:ext cx="182880" cy="182880"/>
          </a:xfrm>
          <a:prstGeom prst="rect">
            <a:avLst/>
          </a:prstGeom>
        </p:spPr>
      </p:pic>
      <p:sp>
        <p:nvSpPr>
          <p:cNvPr id="21" name="Flow card 4"/>
          <p:cNvSpPr/>
          <p:nvPr/>
        </p:nvSpPr>
        <p:spPr>
          <a:xfrm>
            <a:off x="6766560" y="1371600"/>
            <a:ext cx="1920240" cy="2834640"/>
          </a:xfrm>
          <a:prstGeom prst="roundRect">
            <a:avLst>
              <a:gd name="adj" fmla="val 3810"/>
            </a:avLst>
          </a:prstGeom>
          <a:solidFill>
            <a:schemeClr val="bg1"/>
          </a:solidFill>
          <a:ln w="6350">
            <a:solidFill>
              <a:srgbClr val="F4F7FA"/>
            </a:solidFill>
            <a:prstDash val="solid"/>
          </a:ln>
          <a:effectLst>
            <a:outerShdw sx="100000" sy="100000" kx="0" ky="0" algn="bl" rotWithShape="0" blurRad="101600" dist="25400" dir="5400000">
              <a:srgbClr val="000000">
                <a:alpha val="12000"/>
              </a:srgbClr>
            </a:outerShdw>
          </a:effectLst>
        </p:spPr>
      </p:sp>
      <p:sp>
        <p:nvSpPr>
          <p:cNvPr id="22" name="Flow 4 circle"/>
          <p:cNvSpPr/>
          <p:nvPr/>
        </p:nvSpPr>
        <p:spPr>
          <a:xfrm>
            <a:off x="7475220" y="1600200"/>
            <a:ext cx="502920" cy="502920"/>
          </a:xfrm>
          <a:prstGeom prst="ellipse">
            <a:avLst/>
          </a:prstGeom>
          <a:solidFill>
            <a:schemeClr val="accent1"/>
          </a:solidFill>
          <a:ln w="12700">
            <a:solidFill>
              <a:schemeClr val="accent1"/>
            </a:solidFill>
            <a:prstDash val="solid"/>
          </a:ln>
        </p:spPr>
      </p:sp>
      <p:pic>
        <p:nvPicPr>
          <p:cNvPr id="23" name="Flow 4 icon" descr="BarChart2 icon">    </p:cNvPr>
          <p:cNvPicPr>
            <a:picLocks noChangeAspect="1"/>
          </p:cNvPicPr>
          <p:nvPr/>
        </p:nvPicPr>
        <p:blipFill>
          <a:blip r:embed="rId7"/>
          <a:stretch>
            <a:fillRect/>
          </a:stretch>
        </p:blipFill>
        <p:spPr>
          <a:xfrm>
            <a:off x="7605979" y="1730959"/>
            <a:ext cx="241402" cy="241402"/>
          </a:xfrm>
          <a:prstGeom prst="rect">
            <a:avLst/>
          </a:prstGeom>
        </p:spPr>
      </p:pic>
      <p:sp>
        <p:nvSpPr>
          <p:cNvPr id="24" name="Flow title 4"/>
          <p:cNvSpPr txBox="1"/>
          <p:nvPr/>
        </p:nvSpPr>
        <p:spPr>
          <a:xfrm>
            <a:off x="6903720" y="2286000"/>
            <a:ext cx="1645920" cy="365760"/>
          </a:xfrm>
          <a:prstGeom prst="rect">
            <a:avLst/>
          </a:prstGeom>
          <a:noFill/>
          <a:ln/>
        </p:spPr>
        <p:txBody>
          <a:bodyPr wrap="square" lIns="0" tIns="0" rIns="0" bIns="0" rtlCol="0" anchor="ctr"/>
          <a:lstStyle/>
          <a:p>
            <a:pPr algn="ctr" indent="0" marL="0">
              <a:buNone/>
            </a:pPr>
            <a:r>
              <a:rPr lang="en-US" sz="1800" b="1" dirty="0">
                <a:solidFill>
                  <a:schemeClr val="tx1"/>
                </a:solidFill>
              </a:rPr>
              <a:t>4. Track</a:t>
            </a:r>
            <a:endParaRPr lang="en-US" sz="1800" dirty="0"/>
          </a:p>
        </p:txBody>
      </p:sp>
      <p:sp>
        <p:nvSpPr>
          <p:cNvPr id="25" name="Flow body 4"/>
          <p:cNvSpPr txBox="1"/>
          <p:nvPr/>
        </p:nvSpPr>
        <p:spPr>
          <a:xfrm>
            <a:off x="6903720" y="2697480"/>
            <a:ext cx="1645920" cy="1371600"/>
          </a:xfrm>
          <a:prstGeom prst="rect">
            <a:avLst/>
          </a:prstGeom>
          <a:noFill/>
          <a:ln/>
        </p:spPr>
        <p:txBody>
          <a:bodyPr wrap="square" lIns="0" tIns="0" rIns="0" bIns="0" rtlCol="0" anchor="t"/>
          <a:lstStyle/>
          <a:p>
            <a:pPr algn="ctr" indent="0" marL="0">
              <a:buNone/>
            </a:pPr>
            <a:r>
              <a:rPr lang="en-US" sz="1400" dirty="0">
                <a:solidFill>
                  <a:schemeClr val="accent5"/>
                </a:solidFill>
              </a:rPr>
              <a:t>See every job, its status and its description on the dashboard.</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Set up in minutes</a:t>
            </a:r>
            <a:endParaRPr lang="en-US" sz="3600" dirty="0"/>
          </a:p>
        </p:txBody>
      </p:sp>
      <p:sp>
        <p:nvSpPr>
          <p:cNvPr id="3" name="setup form frame"/>
          <p:cNvSpPr/>
          <p:nvPr/>
        </p:nvSpPr>
        <p:spPr>
          <a:xfrm>
            <a:off x="457200" y="1143000"/>
            <a:ext cx="4434025" cy="3529584"/>
          </a:xfrm>
          <a:prstGeom prst="roundRect">
            <a:avLst>
              <a:gd name="adj" fmla="val 2073"/>
            </a:avLst>
          </a:prstGeom>
          <a:solidFill>
            <a:schemeClr val="bg1"/>
          </a:solidFill>
          <a:ln w="6350">
            <a:solidFill>
              <a:srgbClr val="F4F7FA"/>
            </a:solidFill>
            <a:prstDash val="solid"/>
          </a:ln>
          <a:effectLst>
            <a:outerShdw sx="100000" sy="100000" kx="0" ky="0" algn="bl" rotWithShape="0" blurRad="101600" dist="25400" dir="5400000">
              <a:srgbClr val="000000">
                <a:alpha val="12000"/>
              </a:srgbClr>
            </a:outerShdw>
          </a:effectLst>
        </p:spPr>
      </p:sp>
      <p:pic>
        <p:nvPicPr>
          <p:cNvPr id="4" name="setup form" descr="Screenshot of the setup form (sample data)">    </p:cNvPr>
          <p:cNvPicPr>
            <a:picLocks noChangeAspect="1"/>
          </p:cNvPicPr>
          <p:nvPr/>
        </p:nvPicPr>
        <p:blipFill>
          <a:blip r:embed="rId1"/>
          <a:stretch>
            <a:fillRect/>
          </a:stretch>
        </p:blipFill>
        <p:spPr>
          <a:xfrm>
            <a:off x="530352" y="1216152"/>
            <a:ext cx="4287721" cy="3383280"/>
          </a:xfrm>
          <a:prstGeom prst="rect">
            <a:avLst/>
          </a:prstGeom>
        </p:spPr>
      </p:pic>
      <p:sp>
        <p:nvSpPr>
          <p:cNvPr id="5" name="Setup 1 circle"/>
          <p:cNvSpPr/>
          <p:nvPr/>
        </p:nvSpPr>
        <p:spPr>
          <a:xfrm>
            <a:off x="5212080" y="1325880"/>
            <a:ext cx="502920" cy="502920"/>
          </a:xfrm>
          <a:prstGeom prst="ellipse">
            <a:avLst/>
          </a:prstGeom>
          <a:solidFill>
            <a:schemeClr val="accent1"/>
          </a:solidFill>
          <a:ln w="12700">
            <a:solidFill>
              <a:schemeClr val="accent1"/>
            </a:solidFill>
            <a:prstDash val="solid"/>
          </a:ln>
        </p:spPr>
      </p:sp>
      <p:pic>
        <p:nvPicPr>
          <p:cNvPr id="6" name="Setup 1 icon" descr="Upload icon">    </p:cNvPr>
          <p:cNvPicPr>
            <a:picLocks noChangeAspect="1"/>
          </p:cNvPicPr>
          <p:nvPr/>
        </p:nvPicPr>
        <p:blipFill>
          <a:blip r:embed="rId2"/>
          <a:stretch>
            <a:fillRect/>
          </a:stretch>
        </p:blipFill>
        <p:spPr>
          <a:xfrm>
            <a:off x="5342839" y="1456639"/>
            <a:ext cx="241402" cy="241402"/>
          </a:xfrm>
          <a:prstGeom prst="rect">
            <a:avLst/>
          </a:prstGeom>
        </p:spPr>
      </p:pic>
      <p:sp>
        <p:nvSpPr>
          <p:cNvPr id="7" name="Setup 1 text"/>
          <p:cNvSpPr txBox="1"/>
          <p:nvPr/>
        </p:nvSpPr>
        <p:spPr>
          <a:xfrm>
            <a:off x="5897880" y="1280160"/>
            <a:ext cx="2788920" cy="685800"/>
          </a:xfrm>
          <a:prstGeom prst="rect">
            <a:avLst/>
          </a:prstGeom>
          <a:noFill/>
          <a:ln/>
        </p:spPr>
        <p:txBody>
          <a:bodyPr wrap="square" lIns="0" tIns="0" rIns="0" bIns="0" rtlCol="0" anchor="t"/>
          <a:lstStyle/>
          <a:p>
            <a:pPr indent="0" marL="0">
              <a:buNone/>
            </a:pPr>
            <a:r>
              <a:rPr lang="en-US" sz="1600" b="1" dirty="0">
                <a:solidFill>
                  <a:schemeClr val="tx1"/>
                </a:solidFill>
              </a:rPr>
              <a:t>Upload your resume</a:t>
            </a:r>
            <a:endParaRPr lang="en-US" sz="1600" dirty="0"/>
          </a:p>
          <a:p>
            <a:pPr indent="0" marL="0">
              <a:buNone/>
            </a:pPr>
            <a:r>
              <a:rPr lang="en-US" sz="1400" dirty="0">
                <a:solidFill>
                  <a:schemeClr val="accent5"/>
                </a:solidFill>
              </a:rPr>
              <a:t>PDF, DOCX or TXT. Profile fills itself in.</a:t>
            </a:r>
            <a:endParaRPr lang="en-US" sz="1600" dirty="0"/>
          </a:p>
        </p:txBody>
      </p:sp>
      <p:sp>
        <p:nvSpPr>
          <p:cNvPr id="8" name="Setup 2 circle"/>
          <p:cNvSpPr/>
          <p:nvPr/>
        </p:nvSpPr>
        <p:spPr>
          <a:xfrm>
            <a:off x="5212080" y="2423160"/>
            <a:ext cx="502920" cy="502920"/>
          </a:xfrm>
          <a:prstGeom prst="ellipse">
            <a:avLst/>
          </a:prstGeom>
          <a:solidFill>
            <a:schemeClr val="accent1"/>
          </a:solidFill>
          <a:ln w="12700">
            <a:solidFill>
              <a:schemeClr val="accent1"/>
            </a:solidFill>
            <a:prstDash val="solid"/>
          </a:ln>
        </p:spPr>
      </p:sp>
      <p:pic>
        <p:nvPicPr>
          <p:cNvPr id="9" name="Setup 2 icon" descr="Lock icon">    </p:cNvPr>
          <p:cNvPicPr>
            <a:picLocks noChangeAspect="1"/>
          </p:cNvPicPr>
          <p:nvPr/>
        </p:nvPicPr>
        <p:blipFill>
          <a:blip r:embed="rId3"/>
          <a:stretch>
            <a:fillRect/>
          </a:stretch>
        </p:blipFill>
        <p:spPr>
          <a:xfrm>
            <a:off x="5342839" y="2553919"/>
            <a:ext cx="241402" cy="241402"/>
          </a:xfrm>
          <a:prstGeom prst="rect">
            <a:avLst/>
          </a:prstGeom>
        </p:spPr>
      </p:pic>
      <p:sp>
        <p:nvSpPr>
          <p:cNvPr id="10" name="Setup 2 text"/>
          <p:cNvSpPr txBox="1"/>
          <p:nvPr/>
        </p:nvSpPr>
        <p:spPr>
          <a:xfrm>
            <a:off x="5897880" y="2377440"/>
            <a:ext cx="2788920" cy="685800"/>
          </a:xfrm>
          <a:prstGeom prst="rect">
            <a:avLst/>
          </a:prstGeom>
          <a:noFill/>
          <a:ln/>
        </p:spPr>
        <p:txBody>
          <a:bodyPr wrap="square" lIns="0" tIns="0" rIns="0" bIns="0" rtlCol="0" anchor="t"/>
          <a:lstStyle/>
          <a:p>
            <a:pPr indent="0" marL="0">
              <a:buNone/>
            </a:pPr>
            <a:r>
              <a:rPr lang="en-US" sz="1600" b="1" dirty="0">
                <a:solidFill>
                  <a:schemeClr val="tx1"/>
                </a:solidFill>
              </a:rPr>
              <a:t>Add portal logins</a:t>
            </a:r>
            <a:endParaRPr lang="en-US" sz="1600" dirty="0"/>
          </a:p>
          <a:p>
            <a:pPr indent="0" marL="0">
              <a:buNone/>
            </a:pPr>
            <a:r>
              <a:rPr lang="en-US" sz="1400" dirty="0">
                <a:solidFill>
                  <a:schemeClr val="accent5"/>
                </a:solidFill>
              </a:rPr>
              <a:t>Stored only on your PC, password encrypted.</a:t>
            </a:r>
            <a:endParaRPr lang="en-US" sz="1600" dirty="0"/>
          </a:p>
        </p:txBody>
      </p:sp>
      <p:sp>
        <p:nvSpPr>
          <p:cNvPr id="11" name="Setup 3 circle"/>
          <p:cNvSpPr/>
          <p:nvPr/>
        </p:nvSpPr>
        <p:spPr>
          <a:xfrm>
            <a:off x="5212080" y="3520440"/>
            <a:ext cx="502920" cy="502920"/>
          </a:xfrm>
          <a:prstGeom prst="ellipse">
            <a:avLst/>
          </a:prstGeom>
          <a:solidFill>
            <a:schemeClr val="accent1"/>
          </a:solidFill>
          <a:ln w="12700">
            <a:solidFill>
              <a:schemeClr val="accent1"/>
            </a:solidFill>
            <a:prstDash val="solid"/>
          </a:ln>
        </p:spPr>
      </p:sp>
      <p:pic>
        <p:nvPicPr>
          <p:cNvPr id="12" name="Setup 3 icon" descr="Clock icon">    </p:cNvPr>
          <p:cNvPicPr>
            <a:picLocks noChangeAspect="1"/>
          </p:cNvPicPr>
          <p:nvPr/>
        </p:nvPicPr>
        <p:blipFill>
          <a:blip r:embed="rId4"/>
          <a:stretch>
            <a:fillRect/>
          </a:stretch>
        </p:blipFill>
        <p:spPr>
          <a:xfrm>
            <a:off x="5342839" y="3651199"/>
            <a:ext cx="241402" cy="241402"/>
          </a:xfrm>
          <a:prstGeom prst="rect">
            <a:avLst/>
          </a:prstGeom>
        </p:spPr>
      </p:pic>
      <p:sp>
        <p:nvSpPr>
          <p:cNvPr id="13" name="Setup 3 text"/>
          <p:cNvSpPr txBox="1"/>
          <p:nvPr/>
        </p:nvSpPr>
        <p:spPr>
          <a:xfrm>
            <a:off x="5897880" y="3474720"/>
            <a:ext cx="2788920" cy="685800"/>
          </a:xfrm>
          <a:prstGeom prst="rect">
            <a:avLst/>
          </a:prstGeom>
          <a:noFill/>
          <a:ln/>
        </p:spPr>
        <p:txBody>
          <a:bodyPr wrap="square" lIns="0" tIns="0" rIns="0" bIns="0" rtlCol="0" anchor="t"/>
          <a:lstStyle/>
          <a:p>
            <a:pPr indent="0" marL="0">
              <a:buNone/>
            </a:pPr>
            <a:r>
              <a:rPr lang="en-US" sz="1600" b="1" dirty="0">
                <a:solidFill>
                  <a:schemeClr val="tx1"/>
                </a:solidFill>
              </a:rPr>
              <a:t>Pick a daily time</a:t>
            </a:r>
            <a:endParaRPr lang="en-US" sz="1600" dirty="0"/>
          </a:p>
          <a:p>
            <a:pPr indent="0" marL="0">
              <a:buNone/>
            </a:pPr>
            <a:r>
              <a:rPr lang="en-US" sz="1400" dirty="0">
                <a:solidFill>
                  <a:schemeClr val="accent5"/>
                </a:solidFill>
              </a:rPr>
              <a:t>The agent runs by itself at that time.</a:t>
            </a:r>
            <a:endParaRPr lang="en-US" sz="16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Every job gets a match score</a:t>
            </a:r>
            <a:endParaRPr lang="en-US" sz="3600" dirty="0"/>
          </a:p>
        </p:txBody>
      </p:sp>
      <p:sp>
        <p:nvSpPr>
          <p:cNvPr id="3" name="Chart card"/>
          <p:cNvSpPr/>
          <p:nvPr/>
        </p:nvSpPr>
        <p:spPr>
          <a:xfrm>
            <a:off x="457200" y="1234440"/>
            <a:ext cx="3931920" cy="3383280"/>
          </a:xfrm>
          <a:prstGeom prst="roundRect">
            <a:avLst>
              <a:gd name="adj" fmla="val 2162"/>
            </a:avLst>
          </a:prstGeom>
          <a:solidFill>
            <a:schemeClr val="bg1"/>
          </a:solidFill>
          <a:ln w="6350">
            <a:solidFill>
              <a:srgbClr val="F4F7FA"/>
            </a:solidFill>
            <a:prstDash val="solid"/>
          </a:ln>
          <a:effectLst>
            <a:outerShdw sx="100000" sy="100000" kx="0" ky="0" algn="bl" rotWithShape="0" blurRad="101600" dist="25400" dir="5400000">
              <a:srgbClr val="000000">
                <a:alpha val="12000"/>
              </a:srgbClr>
            </a:outerShdw>
          </a:effectLst>
        </p:spPr>
      </p:sp>
      <p:graphicFrame>
        <p:nvGraphicFramePr>
          <p:cNvPr id="4" name="Chart 0" descr=""/>
          <p:cNvGraphicFramePr/>
          <p:nvPr/>
        </p:nvGraphicFramePr>
        <p:xfrm>
          <a:off x="640080" y="1371600"/>
          <a:ext cx="3566160" cy="3108960"/>
        </p:xfrm>
        <a:graphic xmlns:a="http://schemas.openxmlformats.org/drawingml/2006/main">
          <a:graphicData uri="http://schemas.openxmlformats.org/drawingml/2006/chart">
            <c:chart xmlns:c="http://schemas.openxmlformats.org/drawingml/2006/chart" r:id="rId1"/>
          </a:graphicData>
        </a:graphic>
      </p:graphicFrame>
      <p:sp>
        <p:nvSpPr>
          <p:cNvPr id="5" name="Chart centre"/>
          <p:cNvSpPr txBox="1"/>
          <p:nvPr/>
        </p:nvSpPr>
        <p:spPr>
          <a:xfrm>
            <a:off x="1828800" y="2697480"/>
            <a:ext cx="1188720" cy="640080"/>
          </a:xfrm>
          <a:prstGeom prst="rect">
            <a:avLst/>
          </a:prstGeom>
          <a:noFill/>
          <a:ln/>
        </p:spPr>
        <p:txBody>
          <a:bodyPr wrap="square" lIns="0" tIns="0" rIns="0" bIns="0" rtlCol="0" anchor="ctr"/>
          <a:lstStyle/>
          <a:p>
            <a:pPr algn="ctr" indent="0" marL="0">
              <a:buNone/>
            </a:pPr>
            <a:r>
              <a:rPr lang="en-US" sz="1800" b="1" dirty="0">
                <a:solidFill>
                  <a:schemeClr val="tx1"/>
                </a:solidFill>
              </a:rPr>
              <a:t>Match</a:t>
            </a:r>
            <a:endParaRPr lang="en-US" sz="1800" dirty="0"/>
          </a:p>
          <a:p>
            <a:pPr algn="ctr" indent="0" marL="0">
              <a:buNone/>
            </a:pPr>
            <a:r>
              <a:rPr lang="en-US" sz="1400" dirty="0">
                <a:solidFill>
                  <a:schemeClr val="accent5"/>
                </a:solidFill>
              </a:rPr>
              <a:t>score</a:t>
            </a:r>
            <a:endParaRPr lang="en-US" sz="1800" dirty="0"/>
          </a:p>
        </p:txBody>
      </p:sp>
      <p:sp>
        <p:nvSpPr>
          <p:cNvPr id="6" name="Weight skills circle"/>
          <p:cNvSpPr/>
          <p:nvPr/>
        </p:nvSpPr>
        <p:spPr>
          <a:xfrm>
            <a:off x="4754880" y="1325880"/>
            <a:ext cx="502920" cy="502920"/>
          </a:xfrm>
          <a:prstGeom prst="ellipse">
            <a:avLst/>
          </a:prstGeom>
          <a:solidFill>
            <a:schemeClr val="accent1"/>
          </a:solidFill>
          <a:ln w="12700">
            <a:solidFill>
              <a:schemeClr val="accent1"/>
            </a:solidFill>
            <a:prstDash val="solid"/>
          </a:ln>
        </p:spPr>
      </p:sp>
      <p:pic>
        <p:nvPicPr>
          <p:cNvPr id="7" name="Weight skills icon" descr="CheckCircle icon">    </p:cNvPr>
          <p:cNvPicPr>
            <a:picLocks noChangeAspect="1"/>
          </p:cNvPicPr>
          <p:nvPr/>
        </p:nvPicPr>
        <p:blipFill>
          <a:blip r:embed="rId2"/>
          <a:stretch>
            <a:fillRect/>
          </a:stretch>
        </p:blipFill>
        <p:spPr>
          <a:xfrm>
            <a:off x="4885639" y="1456639"/>
            <a:ext cx="241402" cy="241402"/>
          </a:xfrm>
          <a:prstGeom prst="rect">
            <a:avLst/>
          </a:prstGeom>
        </p:spPr>
      </p:pic>
      <p:sp>
        <p:nvSpPr>
          <p:cNvPr id="8" name="Weight skills text"/>
          <p:cNvSpPr txBox="1"/>
          <p:nvPr/>
        </p:nvSpPr>
        <p:spPr>
          <a:xfrm>
            <a:off x="5440680" y="1280160"/>
            <a:ext cx="3246120" cy="685800"/>
          </a:xfrm>
          <a:prstGeom prst="rect">
            <a:avLst/>
          </a:prstGeom>
          <a:noFill/>
          <a:ln/>
        </p:spPr>
        <p:txBody>
          <a:bodyPr wrap="square" lIns="0" tIns="0" rIns="0" bIns="0" rtlCol="0" anchor="t"/>
          <a:lstStyle/>
          <a:p>
            <a:pPr indent="0" marL="0">
              <a:buNone/>
            </a:pPr>
            <a:r>
              <a:rPr lang="en-US" sz="1600" b="1" dirty="0">
                <a:solidFill>
                  <a:schemeClr val="tx1"/>
                </a:solidFill>
              </a:rPr>
              <a:t>70%  Skills coverage</a:t>
            </a:r>
            <a:endParaRPr lang="en-US" sz="1600" dirty="0"/>
          </a:p>
          <a:p>
            <a:pPr indent="0" marL="0">
              <a:buNone/>
            </a:pPr>
            <a:r>
              <a:rPr lang="en-US" sz="1400" dirty="0">
                <a:solidFill>
                  <a:schemeClr val="accent5"/>
                </a:solidFill>
              </a:rPr>
              <a:t>Share of the job's skills that you have</a:t>
            </a:r>
            <a:endParaRPr lang="en-US" sz="1600" dirty="0"/>
          </a:p>
        </p:txBody>
      </p:sp>
      <p:sp>
        <p:nvSpPr>
          <p:cNvPr id="9" name="Weight title circle"/>
          <p:cNvSpPr/>
          <p:nvPr/>
        </p:nvSpPr>
        <p:spPr>
          <a:xfrm>
            <a:off x="4754880" y="2331720"/>
            <a:ext cx="502920" cy="502920"/>
          </a:xfrm>
          <a:prstGeom prst="ellipse">
            <a:avLst/>
          </a:prstGeom>
          <a:solidFill>
            <a:schemeClr val="accent2"/>
          </a:solidFill>
          <a:ln w="12700">
            <a:solidFill>
              <a:schemeClr val="accent2"/>
            </a:solidFill>
            <a:prstDash val="solid"/>
          </a:ln>
        </p:spPr>
      </p:sp>
      <p:pic>
        <p:nvPicPr>
          <p:cNvPr id="10" name="Weight title icon" descr="Briefcase icon">    </p:cNvPr>
          <p:cNvPicPr>
            <a:picLocks noChangeAspect="1"/>
          </p:cNvPicPr>
          <p:nvPr/>
        </p:nvPicPr>
        <p:blipFill>
          <a:blip r:embed="rId3"/>
          <a:stretch>
            <a:fillRect/>
          </a:stretch>
        </p:blipFill>
        <p:spPr>
          <a:xfrm>
            <a:off x="4885639" y="2462479"/>
            <a:ext cx="241402" cy="241402"/>
          </a:xfrm>
          <a:prstGeom prst="rect">
            <a:avLst/>
          </a:prstGeom>
        </p:spPr>
      </p:pic>
      <p:sp>
        <p:nvSpPr>
          <p:cNvPr id="11" name="Weight title text"/>
          <p:cNvSpPr txBox="1"/>
          <p:nvPr/>
        </p:nvSpPr>
        <p:spPr>
          <a:xfrm>
            <a:off x="5440680" y="2286000"/>
            <a:ext cx="3246120" cy="685800"/>
          </a:xfrm>
          <a:prstGeom prst="rect">
            <a:avLst/>
          </a:prstGeom>
          <a:noFill/>
          <a:ln/>
        </p:spPr>
        <p:txBody>
          <a:bodyPr wrap="square" lIns="0" tIns="0" rIns="0" bIns="0" rtlCol="0" anchor="t"/>
          <a:lstStyle/>
          <a:p>
            <a:pPr indent="0" marL="0">
              <a:buNone/>
            </a:pPr>
            <a:r>
              <a:rPr lang="en-US" sz="1600" b="1" dirty="0">
                <a:solidFill>
                  <a:schemeClr val="tx1"/>
                </a:solidFill>
              </a:rPr>
              <a:t>20%  Job title</a:t>
            </a:r>
            <a:endParaRPr lang="en-US" sz="1600" dirty="0"/>
          </a:p>
          <a:p>
            <a:pPr indent="0" marL="0">
              <a:buNone/>
            </a:pPr>
            <a:r>
              <a:rPr lang="en-US" sz="1400" dirty="0">
                <a:solidFill>
                  <a:schemeClr val="accent5"/>
                </a:solidFill>
              </a:rPr>
              <a:t>How closely it matches your target roles</a:t>
            </a:r>
            <a:endParaRPr lang="en-US" sz="1600" dirty="0"/>
          </a:p>
        </p:txBody>
      </p:sp>
      <p:sp>
        <p:nvSpPr>
          <p:cNvPr id="12" name="Weight exp circle"/>
          <p:cNvSpPr/>
          <p:nvPr/>
        </p:nvSpPr>
        <p:spPr>
          <a:xfrm>
            <a:off x="4754880" y="3337560"/>
            <a:ext cx="502920" cy="502920"/>
          </a:xfrm>
          <a:prstGeom prst="ellipse">
            <a:avLst/>
          </a:prstGeom>
          <a:solidFill>
            <a:schemeClr val="accent4"/>
          </a:solidFill>
          <a:ln w="12700">
            <a:solidFill>
              <a:schemeClr val="accent4"/>
            </a:solidFill>
            <a:prstDash val="solid"/>
          </a:ln>
        </p:spPr>
      </p:sp>
      <p:pic>
        <p:nvPicPr>
          <p:cNvPr id="13" name="Weight exp icon" descr="TrendingUp icon">    </p:cNvPr>
          <p:cNvPicPr>
            <a:picLocks noChangeAspect="1"/>
          </p:cNvPicPr>
          <p:nvPr/>
        </p:nvPicPr>
        <p:blipFill>
          <a:blip r:embed="rId4"/>
          <a:stretch>
            <a:fillRect/>
          </a:stretch>
        </p:blipFill>
        <p:spPr>
          <a:xfrm>
            <a:off x="4885639" y="3468319"/>
            <a:ext cx="241402" cy="241402"/>
          </a:xfrm>
          <a:prstGeom prst="rect">
            <a:avLst/>
          </a:prstGeom>
        </p:spPr>
      </p:pic>
      <p:sp>
        <p:nvSpPr>
          <p:cNvPr id="14" name="Weight exp text"/>
          <p:cNvSpPr txBox="1"/>
          <p:nvPr/>
        </p:nvSpPr>
        <p:spPr>
          <a:xfrm>
            <a:off x="5440680" y="3291840"/>
            <a:ext cx="3246120" cy="685800"/>
          </a:xfrm>
          <a:prstGeom prst="rect">
            <a:avLst/>
          </a:prstGeom>
          <a:noFill/>
          <a:ln/>
        </p:spPr>
        <p:txBody>
          <a:bodyPr wrap="square" lIns="0" tIns="0" rIns="0" bIns="0" rtlCol="0" anchor="t"/>
          <a:lstStyle/>
          <a:p>
            <a:pPr indent="0" marL="0">
              <a:buNone/>
            </a:pPr>
            <a:r>
              <a:rPr lang="en-US" sz="1600" b="1" dirty="0">
                <a:solidFill>
                  <a:schemeClr val="tx1"/>
                </a:solidFill>
              </a:rPr>
              <a:t>10%  Experience fit</a:t>
            </a:r>
            <a:endParaRPr lang="en-US" sz="1600" dirty="0"/>
          </a:p>
          <a:p>
            <a:pPr indent="0" marL="0">
              <a:buNone/>
            </a:pPr>
            <a:r>
              <a:rPr lang="en-US" sz="1400" dirty="0">
                <a:solidFill>
                  <a:schemeClr val="accent5"/>
                </a:solidFill>
              </a:rPr>
              <a:t>Penalty if the job needs far more years</a:t>
            </a:r>
            <a:endParaRPr lang="en-US" sz="1600" dirty="0"/>
          </a:p>
        </p:txBody>
      </p:sp>
      <p:sp>
        <p:nvSpPr>
          <p:cNvPr id="15" name="Threshold note"/>
          <p:cNvSpPr txBox="1"/>
          <p:nvPr/>
        </p:nvSpPr>
        <p:spPr>
          <a:xfrm>
            <a:off x="4754880" y="4160520"/>
            <a:ext cx="3931920" cy="457200"/>
          </a:xfrm>
          <a:prstGeom prst="rect">
            <a:avLst/>
          </a:prstGeom>
          <a:noFill/>
          <a:ln/>
        </p:spPr>
        <p:txBody>
          <a:bodyPr wrap="square" lIns="0" tIns="0" rIns="0" bIns="0" rtlCol="0" anchor="ctr"/>
          <a:lstStyle/>
          <a:p>
            <a:pPr indent="0" marL="0">
              <a:buNone/>
            </a:pPr>
            <a:r>
              <a:rPr lang="en-US" sz="1400" i="1" dirty="0">
                <a:solidFill>
                  <a:schemeClr val="accent5"/>
                </a:solidFill>
              </a:rPr>
              <a:t>The agent only applies above your minimum match % (you set it).</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Applies where it can</a:t>
            </a:r>
            <a:endParaRPr lang="en-US" sz="3600" dirty="0"/>
          </a:p>
        </p:txBody>
      </p:sp>
      <p:sp>
        <p:nvSpPr>
          <p:cNvPr id="3" name="Subtitle"/>
          <p:cNvSpPr txBox="1"/>
          <p:nvPr/>
        </p:nvSpPr>
        <p:spPr>
          <a:xfrm>
            <a:off x="457200" y="960120"/>
            <a:ext cx="8229600" cy="320040"/>
          </a:xfrm>
          <a:prstGeom prst="rect">
            <a:avLst/>
          </a:prstGeom>
          <a:noFill/>
          <a:ln/>
        </p:spPr>
        <p:txBody>
          <a:bodyPr wrap="square" lIns="0" tIns="0" rIns="0" bIns="0" rtlCol="0" anchor="ctr"/>
          <a:lstStyle/>
          <a:p>
            <a:pPr indent="0" marL="0">
              <a:buNone/>
            </a:pPr>
            <a:r>
              <a:rPr lang="en-US" sz="1600" dirty="0">
                <a:solidFill>
                  <a:schemeClr val="accent5"/>
                </a:solidFill>
              </a:rPr>
              <a:t>And clearly flags everything else for you.</a:t>
            </a:r>
            <a:endParaRPr lang="en-US" sz="1600" dirty="0"/>
          </a:p>
        </p:txBody>
      </p:sp>
      <p:sp>
        <p:nvSpPr>
          <p:cNvPr id="4" name="Apply card 1"/>
          <p:cNvSpPr/>
          <p:nvPr/>
        </p:nvSpPr>
        <p:spPr>
          <a:xfrm>
            <a:off x="457200" y="1508760"/>
            <a:ext cx="2606040" cy="2194560"/>
          </a:xfrm>
          <a:prstGeom prst="roundRect">
            <a:avLst>
              <a:gd name="adj" fmla="val 3333"/>
            </a:avLst>
          </a:prstGeom>
          <a:solidFill>
            <a:schemeClr val="bg1"/>
          </a:solidFill>
          <a:ln w="6350">
            <a:solidFill>
              <a:srgbClr val="F4F7FA"/>
            </a:solidFill>
            <a:prstDash val="solid"/>
          </a:ln>
          <a:effectLst>
            <a:outerShdw sx="100000" sy="100000" kx="0" ky="0" algn="bl" rotWithShape="0" blurRad="101600" dist="25400" dir="5400000">
              <a:srgbClr val="000000">
                <a:alpha val="12000"/>
              </a:srgbClr>
            </a:outerShdw>
          </a:effectLst>
        </p:spPr>
      </p:sp>
      <p:sp>
        <p:nvSpPr>
          <p:cNvPr id="5" name="Apply 1 circle"/>
          <p:cNvSpPr/>
          <p:nvPr/>
        </p:nvSpPr>
        <p:spPr>
          <a:xfrm>
            <a:off x="640080" y="1691640"/>
            <a:ext cx="502920" cy="502920"/>
          </a:xfrm>
          <a:prstGeom prst="ellipse">
            <a:avLst/>
          </a:prstGeom>
          <a:solidFill>
            <a:schemeClr val="accent1"/>
          </a:solidFill>
          <a:ln w="12700">
            <a:solidFill>
              <a:schemeClr val="accent1"/>
            </a:solidFill>
            <a:prstDash val="solid"/>
          </a:ln>
        </p:spPr>
      </p:sp>
      <p:pic>
        <p:nvPicPr>
          <p:cNvPr id="6" name="Apply 1 icon" descr="Send icon">    </p:cNvPr>
          <p:cNvPicPr>
            <a:picLocks noChangeAspect="1"/>
          </p:cNvPicPr>
          <p:nvPr/>
        </p:nvPicPr>
        <p:blipFill>
          <a:blip r:embed="rId1"/>
          <a:stretch>
            <a:fillRect/>
          </a:stretch>
        </p:blipFill>
        <p:spPr>
          <a:xfrm>
            <a:off x="770839" y="1822399"/>
            <a:ext cx="241402" cy="241402"/>
          </a:xfrm>
          <a:prstGeom prst="rect">
            <a:avLst/>
          </a:prstGeom>
        </p:spPr>
      </p:pic>
      <p:sp>
        <p:nvSpPr>
          <p:cNvPr id="7" name="Apply title 1"/>
          <p:cNvSpPr txBox="1"/>
          <p:nvPr/>
        </p:nvSpPr>
        <p:spPr>
          <a:xfrm>
            <a:off x="640080" y="2286000"/>
            <a:ext cx="2240280" cy="320040"/>
          </a:xfrm>
          <a:prstGeom prst="rect">
            <a:avLst/>
          </a:prstGeom>
          <a:noFill/>
          <a:ln/>
        </p:spPr>
        <p:txBody>
          <a:bodyPr wrap="square" lIns="0" tIns="0" rIns="0" bIns="0" rtlCol="0" anchor="ctr"/>
          <a:lstStyle/>
          <a:p>
            <a:pPr indent="0" marL="0">
              <a:buNone/>
            </a:pPr>
            <a:r>
              <a:rPr lang="en-US" sz="1800" b="1" dirty="0">
                <a:solidFill>
                  <a:schemeClr val="tx1"/>
                </a:solidFill>
              </a:rPr>
              <a:t>Portal apply</a:t>
            </a:r>
            <a:endParaRPr lang="en-US" sz="1800" dirty="0"/>
          </a:p>
        </p:txBody>
      </p:sp>
      <p:sp>
        <p:nvSpPr>
          <p:cNvPr id="8" name="Apply body 1"/>
          <p:cNvSpPr txBox="1"/>
          <p:nvPr/>
        </p:nvSpPr>
        <p:spPr>
          <a:xfrm>
            <a:off x="640080" y="2651760"/>
            <a:ext cx="2240280" cy="1005840"/>
          </a:xfrm>
          <a:prstGeom prst="rect">
            <a:avLst/>
          </a:prstGeom>
          <a:noFill/>
          <a:ln/>
        </p:spPr>
        <p:txBody>
          <a:bodyPr wrap="square" lIns="0" tIns="0" rIns="0" bIns="0" rtlCol="0" anchor="t"/>
          <a:lstStyle/>
          <a:p>
            <a:pPr indent="0" marL="0">
              <a:buNone/>
            </a:pPr>
            <a:r>
              <a:rPr lang="en-US" sz="1400" dirty="0">
                <a:solidFill>
                  <a:schemeClr val="accent5"/>
                </a:solidFill>
              </a:rPr>
              <a:t>Naukri Apply, LinkedIn Easy Apply and Monster Apply are clicked for you.</a:t>
            </a:r>
            <a:endParaRPr lang="en-US" sz="1400" dirty="0"/>
          </a:p>
        </p:txBody>
      </p:sp>
      <p:sp>
        <p:nvSpPr>
          <p:cNvPr id="9" name="Apply card 2"/>
          <p:cNvSpPr/>
          <p:nvPr/>
        </p:nvSpPr>
        <p:spPr>
          <a:xfrm>
            <a:off x="3246120" y="1508760"/>
            <a:ext cx="2606040" cy="2194560"/>
          </a:xfrm>
          <a:prstGeom prst="roundRect">
            <a:avLst>
              <a:gd name="adj" fmla="val 3333"/>
            </a:avLst>
          </a:prstGeom>
          <a:solidFill>
            <a:schemeClr val="bg1"/>
          </a:solidFill>
          <a:ln w="6350">
            <a:solidFill>
              <a:srgbClr val="F4F7FA"/>
            </a:solidFill>
            <a:prstDash val="solid"/>
          </a:ln>
          <a:effectLst>
            <a:outerShdw sx="100000" sy="100000" kx="0" ky="0" algn="bl" rotWithShape="0" blurRad="101600" dist="25400" dir="5400000">
              <a:srgbClr val="000000">
                <a:alpha val="12000"/>
              </a:srgbClr>
            </a:outerShdw>
          </a:effectLst>
        </p:spPr>
      </p:sp>
      <p:sp>
        <p:nvSpPr>
          <p:cNvPr id="10" name="Apply 2 circle"/>
          <p:cNvSpPr/>
          <p:nvPr/>
        </p:nvSpPr>
        <p:spPr>
          <a:xfrm>
            <a:off x="3429000" y="1691640"/>
            <a:ext cx="502920" cy="502920"/>
          </a:xfrm>
          <a:prstGeom prst="ellipse">
            <a:avLst/>
          </a:prstGeom>
          <a:solidFill>
            <a:schemeClr val="accent1"/>
          </a:solidFill>
          <a:ln w="12700">
            <a:solidFill>
              <a:schemeClr val="accent1"/>
            </a:solidFill>
            <a:prstDash val="solid"/>
          </a:ln>
        </p:spPr>
      </p:sp>
      <p:pic>
        <p:nvPicPr>
          <p:cNvPr id="11" name="Apply 2 icon" descr="Globe icon">    </p:cNvPr>
          <p:cNvPicPr>
            <a:picLocks noChangeAspect="1"/>
          </p:cNvPicPr>
          <p:nvPr/>
        </p:nvPicPr>
        <p:blipFill>
          <a:blip r:embed="rId2"/>
          <a:stretch>
            <a:fillRect/>
          </a:stretch>
        </p:blipFill>
        <p:spPr>
          <a:xfrm>
            <a:off x="3559759" y="1822399"/>
            <a:ext cx="241402" cy="241402"/>
          </a:xfrm>
          <a:prstGeom prst="rect">
            <a:avLst/>
          </a:prstGeom>
        </p:spPr>
      </p:pic>
      <p:sp>
        <p:nvSpPr>
          <p:cNvPr id="12" name="Apply title 2"/>
          <p:cNvSpPr txBox="1"/>
          <p:nvPr/>
        </p:nvSpPr>
        <p:spPr>
          <a:xfrm>
            <a:off x="3429000" y="2286000"/>
            <a:ext cx="2240280" cy="320040"/>
          </a:xfrm>
          <a:prstGeom prst="rect">
            <a:avLst/>
          </a:prstGeom>
          <a:noFill/>
          <a:ln/>
        </p:spPr>
        <p:txBody>
          <a:bodyPr wrap="square" lIns="0" tIns="0" rIns="0" bIns="0" rtlCol="0" anchor="ctr"/>
          <a:lstStyle/>
          <a:p>
            <a:pPr indent="0" marL="0">
              <a:buNone/>
            </a:pPr>
            <a:r>
              <a:rPr lang="en-US" sz="1800" b="1" dirty="0">
                <a:solidFill>
                  <a:schemeClr val="tx1"/>
                </a:solidFill>
              </a:rPr>
              <a:t>Company website</a:t>
            </a:r>
            <a:endParaRPr lang="en-US" sz="1800" dirty="0"/>
          </a:p>
        </p:txBody>
      </p:sp>
      <p:sp>
        <p:nvSpPr>
          <p:cNvPr id="13" name="Apply body 2"/>
          <p:cNvSpPr txBox="1"/>
          <p:nvPr/>
        </p:nvSpPr>
        <p:spPr>
          <a:xfrm>
            <a:off x="3429000" y="2651760"/>
            <a:ext cx="2240280" cy="1005840"/>
          </a:xfrm>
          <a:prstGeom prst="rect">
            <a:avLst/>
          </a:prstGeom>
          <a:noFill/>
          <a:ln/>
        </p:spPr>
        <p:txBody>
          <a:bodyPr wrap="square" lIns="0" tIns="0" rIns="0" bIns="0" rtlCol="0" anchor="t"/>
          <a:lstStyle/>
          <a:p>
            <a:pPr indent="0" marL="0">
              <a:buNone/>
            </a:pPr>
            <a:r>
              <a:rPr lang="en-US" sz="1400" dirty="0">
                <a:solidFill>
                  <a:schemeClr val="accent5"/>
                </a:solidFill>
              </a:rPr>
              <a:t>The agent opens the employer's form, fills your saved details, attaches your resume and submits.</a:t>
            </a:r>
            <a:endParaRPr lang="en-US" sz="1400" dirty="0"/>
          </a:p>
        </p:txBody>
      </p:sp>
      <p:sp>
        <p:nvSpPr>
          <p:cNvPr id="14" name="Apply card 3"/>
          <p:cNvSpPr/>
          <p:nvPr/>
        </p:nvSpPr>
        <p:spPr>
          <a:xfrm>
            <a:off x="6035040" y="1508760"/>
            <a:ext cx="2606040" cy="2194560"/>
          </a:xfrm>
          <a:prstGeom prst="roundRect">
            <a:avLst>
              <a:gd name="adj" fmla="val 3333"/>
            </a:avLst>
          </a:prstGeom>
          <a:solidFill>
            <a:schemeClr val="bg1"/>
          </a:solidFill>
          <a:ln w="6350">
            <a:solidFill>
              <a:srgbClr val="F4F7FA"/>
            </a:solidFill>
            <a:prstDash val="solid"/>
          </a:ln>
          <a:effectLst>
            <a:outerShdw sx="100000" sy="100000" kx="0" ky="0" algn="bl" rotWithShape="0" blurRad="101600" dist="25400" dir="5400000">
              <a:srgbClr val="000000">
                <a:alpha val="12000"/>
              </a:srgbClr>
            </a:outerShdw>
          </a:effectLst>
        </p:spPr>
      </p:sp>
      <p:sp>
        <p:nvSpPr>
          <p:cNvPr id="15" name="Apply 3 circle"/>
          <p:cNvSpPr/>
          <p:nvPr/>
        </p:nvSpPr>
        <p:spPr>
          <a:xfrm>
            <a:off x="6217920" y="1691640"/>
            <a:ext cx="502920" cy="502920"/>
          </a:xfrm>
          <a:prstGeom prst="ellipse">
            <a:avLst/>
          </a:prstGeom>
          <a:solidFill>
            <a:schemeClr val="accent2"/>
          </a:solidFill>
          <a:ln w="12700">
            <a:solidFill>
              <a:schemeClr val="accent2"/>
            </a:solidFill>
            <a:prstDash val="solid"/>
          </a:ln>
        </p:spPr>
      </p:sp>
      <p:pic>
        <p:nvPicPr>
          <p:cNvPr id="16" name="Apply 3 icon" descr="AlertCircle icon">    </p:cNvPr>
          <p:cNvPicPr>
            <a:picLocks noChangeAspect="1"/>
          </p:cNvPicPr>
          <p:nvPr/>
        </p:nvPicPr>
        <p:blipFill>
          <a:blip r:embed="rId3"/>
          <a:stretch>
            <a:fillRect/>
          </a:stretch>
        </p:blipFill>
        <p:spPr>
          <a:xfrm>
            <a:off x="6348679" y="1822399"/>
            <a:ext cx="241402" cy="241402"/>
          </a:xfrm>
          <a:prstGeom prst="rect">
            <a:avLst/>
          </a:prstGeom>
        </p:spPr>
      </p:pic>
      <p:sp>
        <p:nvSpPr>
          <p:cNvPr id="17" name="Apply title 3"/>
          <p:cNvSpPr txBox="1"/>
          <p:nvPr/>
        </p:nvSpPr>
        <p:spPr>
          <a:xfrm>
            <a:off x="6217920" y="2286000"/>
            <a:ext cx="2240280" cy="320040"/>
          </a:xfrm>
          <a:prstGeom prst="rect">
            <a:avLst/>
          </a:prstGeom>
          <a:noFill/>
          <a:ln/>
        </p:spPr>
        <p:txBody>
          <a:bodyPr wrap="square" lIns="0" tIns="0" rIns="0" bIns="0" rtlCol="0" anchor="ctr"/>
          <a:lstStyle/>
          <a:p>
            <a:pPr indent="0" marL="0">
              <a:buNone/>
            </a:pPr>
            <a:r>
              <a:rPr lang="en-US" sz="1800" b="1" dirty="0">
                <a:solidFill>
                  <a:schemeClr val="tx1"/>
                </a:solidFill>
              </a:rPr>
              <a:t>Needs you</a:t>
            </a:r>
            <a:endParaRPr lang="en-US" sz="1800" dirty="0"/>
          </a:p>
        </p:txBody>
      </p:sp>
      <p:sp>
        <p:nvSpPr>
          <p:cNvPr id="18" name="Apply body 3"/>
          <p:cNvSpPr txBox="1"/>
          <p:nvPr/>
        </p:nvSpPr>
        <p:spPr>
          <a:xfrm>
            <a:off x="6217920" y="2651760"/>
            <a:ext cx="2240280" cy="1005840"/>
          </a:xfrm>
          <a:prstGeom prst="rect">
            <a:avLst/>
          </a:prstGeom>
          <a:noFill/>
          <a:ln/>
        </p:spPr>
        <p:txBody>
          <a:bodyPr wrap="square" lIns="0" tIns="0" rIns="0" bIns="0" rtlCol="0" anchor="t"/>
          <a:lstStyle/>
          <a:p>
            <a:pPr indent="0" marL="0">
              <a:buNone/>
            </a:pPr>
            <a:r>
              <a:rPr lang="en-US" sz="1400" dirty="0">
                <a:solidFill>
                  <a:schemeClr val="accent5"/>
                </a:solidFill>
              </a:rPr>
              <a:t>Extra questions, sign-in walls or CAPTCHA: it stops and tells you why. It never guesses.</a:t>
            </a:r>
            <a:endParaRPr lang="en-US" sz="1400" dirty="0"/>
          </a:p>
        </p:txBody>
      </p:sp>
      <p:sp>
        <p:nvSpPr>
          <p:cNvPr id="19" name="Statuses label"/>
          <p:cNvSpPr txBox="1"/>
          <p:nvPr/>
        </p:nvSpPr>
        <p:spPr>
          <a:xfrm>
            <a:off x="457200" y="3931920"/>
            <a:ext cx="3108960" cy="365760"/>
          </a:xfrm>
          <a:prstGeom prst="rect">
            <a:avLst/>
          </a:prstGeom>
          <a:noFill/>
          <a:ln/>
        </p:spPr>
        <p:txBody>
          <a:bodyPr wrap="square" lIns="0" tIns="0" rIns="0" bIns="0" rtlCol="0" anchor="ctr"/>
          <a:lstStyle/>
          <a:p>
            <a:pPr indent="0" marL="0">
              <a:buNone/>
            </a:pPr>
            <a:r>
              <a:rPr lang="en-US" sz="1400" dirty="0">
                <a:solidFill>
                  <a:schemeClr val="tx1"/>
                </a:solidFill>
              </a:rPr>
              <a:t>Every job ends with one clear status:</a:t>
            </a:r>
            <a:endParaRPr lang="en-US" sz="1400" dirty="0"/>
          </a:p>
        </p:txBody>
      </p:sp>
      <p:sp>
        <p:nvSpPr>
          <p:cNvPr id="20" name="Status pill 1"/>
          <p:cNvSpPr/>
          <p:nvPr/>
        </p:nvSpPr>
        <p:spPr>
          <a:xfrm>
            <a:off x="3657600" y="3931920"/>
            <a:ext cx="1097280" cy="365760"/>
          </a:xfrm>
          <a:prstGeom prst="roundRect">
            <a:avLst>
              <a:gd name="adj" fmla="val 50000"/>
            </a:avLst>
          </a:prstGeom>
          <a:solidFill>
            <a:schemeClr val="bg1"/>
          </a:solidFill>
          <a:ln w="15875">
            <a:solidFill>
              <a:schemeClr val="accent3"/>
            </a:solidFill>
            <a:prstDash val="solid"/>
          </a:ln>
        </p:spPr>
      </p:sp>
      <p:sp>
        <p:nvSpPr>
          <p:cNvPr id="21" name="Status text 1"/>
          <p:cNvSpPr txBox="1"/>
          <p:nvPr/>
        </p:nvSpPr>
        <p:spPr>
          <a:xfrm>
            <a:off x="3657600" y="3931920"/>
            <a:ext cx="1097280" cy="365760"/>
          </a:xfrm>
          <a:prstGeom prst="rect">
            <a:avLst/>
          </a:prstGeom>
          <a:noFill/>
          <a:ln/>
        </p:spPr>
        <p:txBody>
          <a:bodyPr wrap="square" lIns="0" tIns="0" rIns="0" bIns="0" rtlCol="0" anchor="ctr"/>
          <a:lstStyle/>
          <a:p>
            <a:pPr algn="ctr" indent="0" marL="0">
              <a:buNone/>
            </a:pPr>
            <a:r>
              <a:rPr lang="en-US" sz="1300" b="1" dirty="0">
                <a:solidFill>
                  <a:schemeClr val="accent3"/>
                </a:solidFill>
              </a:rPr>
              <a:t>Applied</a:t>
            </a:r>
            <a:endParaRPr lang="en-US" sz="1300" dirty="0"/>
          </a:p>
        </p:txBody>
      </p:sp>
      <p:sp>
        <p:nvSpPr>
          <p:cNvPr id="22" name="Status pill 2"/>
          <p:cNvSpPr/>
          <p:nvPr/>
        </p:nvSpPr>
        <p:spPr>
          <a:xfrm>
            <a:off x="4846320" y="3931920"/>
            <a:ext cx="1828800" cy="365760"/>
          </a:xfrm>
          <a:prstGeom prst="roundRect">
            <a:avLst>
              <a:gd name="adj" fmla="val 50000"/>
            </a:avLst>
          </a:prstGeom>
          <a:solidFill>
            <a:schemeClr val="bg1"/>
          </a:solidFill>
          <a:ln w="15875">
            <a:solidFill>
              <a:schemeClr val="accent2"/>
            </a:solidFill>
            <a:prstDash val="solid"/>
          </a:ln>
        </p:spPr>
      </p:sp>
      <p:sp>
        <p:nvSpPr>
          <p:cNvPr id="23" name="Status text 2"/>
          <p:cNvSpPr txBox="1"/>
          <p:nvPr/>
        </p:nvSpPr>
        <p:spPr>
          <a:xfrm>
            <a:off x="4846320" y="3931920"/>
            <a:ext cx="1828800" cy="365760"/>
          </a:xfrm>
          <a:prstGeom prst="rect">
            <a:avLst/>
          </a:prstGeom>
          <a:noFill/>
          <a:ln/>
        </p:spPr>
        <p:txBody>
          <a:bodyPr wrap="square" lIns="0" tIns="0" rIns="0" bIns="0" rtlCol="0" anchor="ctr"/>
          <a:lstStyle/>
          <a:p>
            <a:pPr algn="ctr" indent="0" marL="0">
              <a:buNone/>
            </a:pPr>
            <a:r>
              <a:rPr lang="en-US" sz="1300" b="1" dirty="0">
                <a:solidFill>
                  <a:schemeClr val="accent2"/>
                </a:solidFill>
              </a:rPr>
              <a:t>Needs manual apply</a:t>
            </a:r>
            <a:endParaRPr lang="en-US" sz="1300" dirty="0"/>
          </a:p>
        </p:txBody>
      </p:sp>
      <p:sp>
        <p:nvSpPr>
          <p:cNvPr id="24" name="Status pill 3"/>
          <p:cNvSpPr/>
          <p:nvPr/>
        </p:nvSpPr>
        <p:spPr>
          <a:xfrm>
            <a:off x="6766560" y="3931920"/>
            <a:ext cx="1783080" cy="365760"/>
          </a:xfrm>
          <a:prstGeom prst="roundRect">
            <a:avLst>
              <a:gd name="adj" fmla="val 50000"/>
            </a:avLst>
          </a:prstGeom>
          <a:solidFill>
            <a:schemeClr val="bg1"/>
          </a:solidFill>
          <a:ln w="15875">
            <a:solidFill>
              <a:schemeClr val="accent5"/>
            </a:solidFill>
            <a:prstDash val="solid"/>
          </a:ln>
        </p:spPr>
      </p:sp>
      <p:sp>
        <p:nvSpPr>
          <p:cNvPr id="25" name="Status text 3"/>
          <p:cNvSpPr txBox="1"/>
          <p:nvPr/>
        </p:nvSpPr>
        <p:spPr>
          <a:xfrm>
            <a:off x="6766560" y="3931920"/>
            <a:ext cx="1783080" cy="365760"/>
          </a:xfrm>
          <a:prstGeom prst="rect">
            <a:avLst/>
          </a:prstGeom>
          <a:noFill/>
          <a:ln/>
        </p:spPr>
        <p:txBody>
          <a:bodyPr wrap="square" lIns="0" tIns="0" rIns="0" bIns="0" rtlCol="0" anchor="ctr"/>
          <a:lstStyle/>
          <a:p>
            <a:pPr algn="ctr" indent="0" marL="0">
              <a:buNone/>
            </a:pPr>
            <a:r>
              <a:rPr lang="en-US" sz="1300" b="1" dirty="0">
                <a:solidFill>
                  <a:schemeClr val="accent5"/>
                </a:solidFill>
              </a:rPr>
              <a:t>Skipped (low match)</a:t>
            </a:r>
            <a:endParaRPr lang="en-US" sz="13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Track every application</a:t>
            </a:r>
            <a:endParaRPr lang="en-US" sz="3600" dirty="0"/>
          </a:p>
        </p:txBody>
      </p:sp>
      <p:sp>
        <p:nvSpPr>
          <p:cNvPr id="3" name="dashboard frame"/>
          <p:cNvSpPr/>
          <p:nvPr/>
        </p:nvSpPr>
        <p:spPr>
          <a:xfrm>
            <a:off x="457200" y="1188720"/>
            <a:ext cx="5610432" cy="3300984"/>
          </a:xfrm>
          <a:prstGeom prst="roundRect">
            <a:avLst>
              <a:gd name="adj" fmla="val 2216"/>
            </a:avLst>
          </a:prstGeom>
          <a:solidFill>
            <a:schemeClr val="bg1"/>
          </a:solidFill>
          <a:ln w="6350">
            <a:solidFill>
              <a:srgbClr val="F4F7FA"/>
            </a:solidFill>
            <a:prstDash val="solid"/>
          </a:ln>
          <a:effectLst>
            <a:outerShdw sx="100000" sy="100000" kx="0" ky="0" algn="bl" rotWithShape="0" blurRad="101600" dist="25400" dir="5400000">
              <a:srgbClr val="000000">
                <a:alpha val="12000"/>
              </a:srgbClr>
            </a:outerShdw>
          </a:effectLst>
        </p:spPr>
      </p:sp>
      <p:pic>
        <p:nvPicPr>
          <p:cNvPr id="4" name="dashboard" descr="Screenshot of the dashboard (sample data)">    </p:cNvPr>
          <p:cNvPicPr>
            <a:picLocks noChangeAspect="1"/>
          </p:cNvPicPr>
          <p:nvPr/>
        </p:nvPicPr>
        <p:blipFill>
          <a:blip r:embed="rId1"/>
          <a:stretch>
            <a:fillRect/>
          </a:stretch>
        </p:blipFill>
        <p:spPr>
          <a:xfrm>
            <a:off x="530352" y="1261872"/>
            <a:ext cx="5464128" cy="3154680"/>
          </a:xfrm>
          <a:prstGeom prst="rect">
            <a:avLst/>
          </a:prstGeom>
        </p:spPr>
      </p:pic>
      <p:sp>
        <p:nvSpPr>
          <p:cNvPr id="5" name="Dashboard note 1"/>
          <p:cNvSpPr txBox="1"/>
          <p:nvPr/>
        </p:nvSpPr>
        <p:spPr>
          <a:xfrm>
            <a:off x="6263640" y="1325880"/>
            <a:ext cx="2468880" cy="640080"/>
          </a:xfrm>
          <a:prstGeom prst="rect">
            <a:avLst/>
          </a:prstGeom>
          <a:noFill/>
          <a:ln/>
        </p:spPr>
        <p:txBody>
          <a:bodyPr wrap="square" lIns="0" tIns="0" rIns="0" bIns="0" rtlCol="0" anchor="t"/>
          <a:lstStyle/>
          <a:p>
            <a:pPr indent="0" marL="0">
              <a:buNone/>
            </a:pPr>
            <a:r>
              <a:rPr lang="en-US" sz="1600" b="1" dirty="0">
                <a:solidFill>
                  <a:schemeClr val="tx1"/>
                </a:solidFill>
              </a:rPr>
              <a:t>Date and status</a:t>
            </a:r>
            <a:endParaRPr lang="en-US" sz="1600" dirty="0"/>
          </a:p>
          <a:p>
            <a:pPr indent="0" marL="0">
              <a:buNone/>
            </a:pPr>
            <a:r>
              <a:rPr lang="en-US" sz="1400" dirty="0">
                <a:solidFill>
                  <a:schemeClr val="accent5"/>
                </a:solidFill>
              </a:rPr>
              <a:t>When and how it ended</a:t>
            </a:r>
            <a:endParaRPr lang="en-US" sz="1600" dirty="0"/>
          </a:p>
        </p:txBody>
      </p:sp>
      <p:sp>
        <p:nvSpPr>
          <p:cNvPr id="6" name="Dashboard note 2"/>
          <p:cNvSpPr txBox="1"/>
          <p:nvPr/>
        </p:nvSpPr>
        <p:spPr>
          <a:xfrm>
            <a:off x="6263640" y="2103120"/>
            <a:ext cx="2468880" cy="640080"/>
          </a:xfrm>
          <a:prstGeom prst="rect">
            <a:avLst/>
          </a:prstGeom>
          <a:noFill/>
          <a:ln/>
        </p:spPr>
        <p:txBody>
          <a:bodyPr wrap="square" lIns="0" tIns="0" rIns="0" bIns="0" rtlCol="0" anchor="t"/>
          <a:lstStyle/>
          <a:p>
            <a:pPr indent="0" marL="0">
              <a:buNone/>
            </a:pPr>
            <a:r>
              <a:rPr lang="en-US" sz="1600" b="1" dirty="0">
                <a:solidFill>
                  <a:schemeClr val="tx1"/>
                </a:solidFill>
              </a:rPr>
              <a:t>Job and skills</a:t>
            </a:r>
            <a:endParaRPr lang="en-US" sz="1600" dirty="0"/>
          </a:p>
          <a:p>
            <a:pPr indent="0" marL="0">
              <a:buNone/>
            </a:pPr>
            <a:r>
              <a:rPr lang="en-US" sz="1400" dirty="0">
                <a:solidFill>
                  <a:schemeClr val="accent5"/>
                </a:solidFill>
              </a:rPr>
              <a:t>Green = a skill you have</a:t>
            </a:r>
            <a:endParaRPr lang="en-US" sz="1600" dirty="0"/>
          </a:p>
        </p:txBody>
      </p:sp>
      <p:sp>
        <p:nvSpPr>
          <p:cNvPr id="7" name="Dashboard note 3"/>
          <p:cNvSpPr txBox="1"/>
          <p:nvPr/>
        </p:nvSpPr>
        <p:spPr>
          <a:xfrm>
            <a:off x="6263640" y="2880360"/>
            <a:ext cx="2468880" cy="640080"/>
          </a:xfrm>
          <a:prstGeom prst="rect">
            <a:avLst/>
          </a:prstGeom>
          <a:noFill/>
          <a:ln/>
        </p:spPr>
        <p:txBody>
          <a:bodyPr wrap="square" lIns="0" tIns="0" rIns="0" bIns="0" rtlCol="0" anchor="t"/>
          <a:lstStyle/>
          <a:p>
            <a:pPr indent="0" marL="0">
              <a:buNone/>
            </a:pPr>
            <a:r>
              <a:rPr lang="en-US" sz="1600" b="1" dirty="0">
                <a:solidFill>
                  <a:schemeClr val="tx1"/>
                </a:solidFill>
              </a:rPr>
              <a:t>Match %</a:t>
            </a:r>
            <a:endParaRPr lang="en-US" sz="1600" dirty="0"/>
          </a:p>
          <a:p>
            <a:pPr indent="0" marL="0">
              <a:buNone/>
            </a:pPr>
            <a:r>
              <a:rPr lang="en-US" sz="1400" dirty="0">
                <a:solidFill>
                  <a:schemeClr val="accent5"/>
                </a:solidFill>
              </a:rPr>
              <a:t>Why it was (not) applied to</a:t>
            </a:r>
            <a:endParaRPr lang="en-US" sz="1600" dirty="0"/>
          </a:p>
        </p:txBody>
      </p:sp>
      <p:sp>
        <p:nvSpPr>
          <p:cNvPr id="8" name="Dashboard note 4"/>
          <p:cNvSpPr txBox="1"/>
          <p:nvPr/>
        </p:nvSpPr>
        <p:spPr>
          <a:xfrm>
            <a:off x="6263640" y="3657600"/>
            <a:ext cx="2468880" cy="640080"/>
          </a:xfrm>
          <a:prstGeom prst="rect">
            <a:avLst/>
          </a:prstGeom>
          <a:noFill/>
          <a:ln/>
        </p:spPr>
        <p:txBody>
          <a:bodyPr wrap="square" lIns="0" tIns="0" rIns="0" bIns="0" rtlCol="0" anchor="t"/>
          <a:lstStyle/>
          <a:p>
            <a:pPr indent="0" marL="0">
              <a:buNone/>
            </a:pPr>
            <a:r>
              <a:rPr lang="en-US" sz="1600" b="1" dirty="0">
                <a:solidFill>
                  <a:schemeClr val="tx1"/>
                </a:solidFill>
              </a:rPr>
              <a:t>Filters</a:t>
            </a:r>
            <a:endParaRPr lang="en-US" sz="1600" dirty="0"/>
          </a:p>
          <a:p>
            <a:pPr indent="0" marL="0">
              <a:buNone/>
            </a:pPr>
            <a:r>
              <a:rPr lang="en-US" sz="1400" dirty="0">
                <a:solidFill>
                  <a:schemeClr val="accent5"/>
                </a:solidFill>
              </a:rPr>
              <a:t>Date, status, portal, search</a:t>
            </a:r>
            <a:endParaRPr lang="en-US" sz="16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Full job details, saved</a:t>
            </a:r>
            <a:endParaRPr lang="en-US" sz="3600" dirty="0"/>
          </a:p>
        </p:txBody>
      </p:sp>
      <p:sp>
        <p:nvSpPr>
          <p:cNvPr id="3" name="JD frame"/>
          <p:cNvSpPr/>
          <p:nvPr/>
        </p:nvSpPr>
        <p:spPr>
          <a:xfrm>
            <a:off x="741145" y="1115568"/>
            <a:ext cx="7661709" cy="2935224"/>
          </a:xfrm>
          <a:prstGeom prst="roundRect">
            <a:avLst>
              <a:gd name="adj" fmla="val 2492"/>
            </a:avLst>
          </a:prstGeom>
          <a:solidFill>
            <a:schemeClr val="bg1"/>
          </a:solidFill>
          <a:ln w="6350">
            <a:solidFill>
              <a:srgbClr val="F4F7FA"/>
            </a:solidFill>
            <a:prstDash val="solid"/>
          </a:ln>
          <a:effectLst>
            <a:outerShdw sx="100000" sy="100000" kx="0" ky="0" algn="bl" rotWithShape="0" blurRad="101600" dist="25400" dir="5400000">
              <a:srgbClr val="000000">
                <a:alpha val="12000"/>
              </a:srgbClr>
            </a:outerShdw>
          </a:effectLst>
        </p:spPr>
      </p:sp>
      <p:pic>
        <p:nvPicPr>
          <p:cNvPr id="4" name="job description screenshot" descr="Screenshot of an expanded job with its description (sample data)">    </p:cNvPr>
          <p:cNvPicPr>
            <a:picLocks noChangeAspect="1"/>
          </p:cNvPicPr>
          <p:nvPr/>
        </p:nvPicPr>
        <p:blipFill>
          <a:blip r:embed="rId1"/>
          <a:stretch>
            <a:fillRect/>
          </a:stretch>
        </p:blipFill>
        <p:spPr>
          <a:xfrm>
            <a:off x="814297" y="1188720"/>
            <a:ext cx="7515405" cy="2788920"/>
          </a:xfrm>
          <a:prstGeom prst="rect">
            <a:avLst/>
          </a:prstGeom>
        </p:spPr>
      </p:pic>
      <p:sp>
        <p:nvSpPr>
          <p:cNvPr id="5" name="Caption 1 circle"/>
          <p:cNvSpPr/>
          <p:nvPr/>
        </p:nvSpPr>
        <p:spPr>
          <a:xfrm>
            <a:off x="457200" y="4206240"/>
            <a:ext cx="411480" cy="411480"/>
          </a:xfrm>
          <a:prstGeom prst="ellipse">
            <a:avLst/>
          </a:prstGeom>
          <a:solidFill>
            <a:schemeClr val="accent1"/>
          </a:solidFill>
          <a:ln w="12700">
            <a:solidFill>
              <a:schemeClr val="accent1"/>
            </a:solidFill>
            <a:prstDash val="solid"/>
          </a:ln>
        </p:spPr>
      </p:sp>
      <p:pic>
        <p:nvPicPr>
          <p:cNvPr id="6" name="Caption 1 icon" descr="MousePointer icon">    </p:cNvPr>
          <p:cNvPicPr>
            <a:picLocks noChangeAspect="1"/>
          </p:cNvPicPr>
          <p:nvPr/>
        </p:nvPicPr>
        <p:blipFill>
          <a:blip r:embed="rId2"/>
          <a:stretch>
            <a:fillRect/>
          </a:stretch>
        </p:blipFill>
        <p:spPr>
          <a:xfrm>
            <a:off x="564185" y="4313225"/>
            <a:ext cx="197510" cy="197510"/>
          </a:xfrm>
          <a:prstGeom prst="rect">
            <a:avLst/>
          </a:prstGeom>
        </p:spPr>
      </p:pic>
      <p:sp>
        <p:nvSpPr>
          <p:cNvPr id="7" name="Caption text 1"/>
          <p:cNvSpPr txBox="1"/>
          <p:nvPr/>
        </p:nvSpPr>
        <p:spPr>
          <a:xfrm>
            <a:off x="1005840" y="4206240"/>
            <a:ext cx="2103120" cy="411480"/>
          </a:xfrm>
          <a:prstGeom prst="rect">
            <a:avLst/>
          </a:prstGeom>
          <a:noFill/>
          <a:ln/>
        </p:spPr>
        <p:txBody>
          <a:bodyPr wrap="square" lIns="0" tIns="0" rIns="0" bIns="0" rtlCol="0" anchor="ctr"/>
          <a:lstStyle/>
          <a:p>
            <a:pPr indent="0" marL="0">
              <a:buNone/>
            </a:pPr>
            <a:r>
              <a:rPr lang="en-US" sz="1400" b="1" dirty="0">
                <a:solidFill>
                  <a:schemeClr val="tx1"/>
                </a:solidFill>
              </a:rPr>
              <a:t>Click any row</a:t>
            </a:r>
            <a:endParaRPr lang="en-US" sz="1400" dirty="0"/>
          </a:p>
        </p:txBody>
      </p:sp>
      <p:sp>
        <p:nvSpPr>
          <p:cNvPr id="8" name="Caption 2 circle"/>
          <p:cNvSpPr/>
          <p:nvPr/>
        </p:nvSpPr>
        <p:spPr>
          <a:xfrm>
            <a:off x="3246120" y="4206240"/>
            <a:ext cx="411480" cy="411480"/>
          </a:xfrm>
          <a:prstGeom prst="ellipse">
            <a:avLst/>
          </a:prstGeom>
          <a:solidFill>
            <a:schemeClr val="accent1"/>
          </a:solidFill>
          <a:ln w="12700">
            <a:solidFill>
              <a:schemeClr val="accent1"/>
            </a:solidFill>
            <a:prstDash val="solid"/>
          </a:ln>
        </p:spPr>
      </p:sp>
      <p:pic>
        <p:nvPicPr>
          <p:cNvPr id="9" name="Caption 2 icon" descr="FileText icon">    </p:cNvPr>
          <p:cNvPicPr>
            <a:picLocks noChangeAspect="1"/>
          </p:cNvPicPr>
          <p:nvPr/>
        </p:nvPicPr>
        <p:blipFill>
          <a:blip r:embed="rId3"/>
          <a:stretch>
            <a:fillRect/>
          </a:stretch>
        </p:blipFill>
        <p:spPr>
          <a:xfrm>
            <a:off x="3353105" y="4313225"/>
            <a:ext cx="197510" cy="197510"/>
          </a:xfrm>
          <a:prstGeom prst="rect">
            <a:avLst/>
          </a:prstGeom>
        </p:spPr>
      </p:pic>
      <p:sp>
        <p:nvSpPr>
          <p:cNvPr id="10" name="Caption text 2"/>
          <p:cNvSpPr txBox="1"/>
          <p:nvPr/>
        </p:nvSpPr>
        <p:spPr>
          <a:xfrm>
            <a:off x="3794760" y="4206240"/>
            <a:ext cx="2103120" cy="411480"/>
          </a:xfrm>
          <a:prstGeom prst="rect">
            <a:avLst/>
          </a:prstGeom>
          <a:noFill/>
          <a:ln/>
        </p:spPr>
        <p:txBody>
          <a:bodyPr wrap="square" lIns="0" tIns="0" rIns="0" bIns="0" rtlCol="0" anchor="ctr"/>
          <a:lstStyle/>
          <a:p>
            <a:pPr indent="0" marL="0">
              <a:buNone/>
            </a:pPr>
            <a:r>
              <a:rPr lang="en-US" sz="1400" b="1" dirty="0">
                <a:solidFill>
                  <a:schemeClr val="tx1"/>
                </a:solidFill>
              </a:rPr>
              <a:t>Full description kept</a:t>
            </a:r>
            <a:endParaRPr lang="en-US" sz="1400" dirty="0"/>
          </a:p>
        </p:txBody>
      </p:sp>
      <p:sp>
        <p:nvSpPr>
          <p:cNvPr id="11" name="Caption 3 circle"/>
          <p:cNvSpPr/>
          <p:nvPr/>
        </p:nvSpPr>
        <p:spPr>
          <a:xfrm>
            <a:off x="6035040" y="4206240"/>
            <a:ext cx="411480" cy="411480"/>
          </a:xfrm>
          <a:prstGeom prst="ellipse">
            <a:avLst/>
          </a:prstGeom>
          <a:solidFill>
            <a:schemeClr val="accent1"/>
          </a:solidFill>
          <a:ln w="12700">
            <a:solidFill>
              <a:schemeClr val="accent1"/>
            </a:solidFill>
            <a:prstDash val="solid"/>
          </a:ln>
        </p:spPr>
      </p:sp>
      <p:pic>
        <p:nvPicPr>
          <p:cNvPr id="12" name="Caption 3 icon" descr="ExternalLink icon">    </p:cNvPr>
          <p:cNvPicPr>
            <a:picLocks noChangeAspect="1"/>
          </p:cNvPicPr>
          <p:nvPr/>
        </p:nvPicPr>
        <p:blipFill>
          <a:blip r:embed="rId4"/>
          <a:stretch>
            <a:fillRect/>
          </a:stretch>
        </p:blipFill>
        <p:spPr>
          <a:xfrm>
            <a:off x="6142025" y="4313225"/>
            <a:ext cx="197510" cy="197510"/>
          </a:xfrm>
          <a:prstGeom prst="rect">
            <a:avLst/>
          </a:prstGeom>
        </p:spPr>
      </p:pic>
      <p:sp>
        <p:nvSpPr>
          <p:cNvPr id="13" name="Caption text 3"/>
          <p:cNvSpPr txBox="1"/>
          <p:nvPr/>
        </p:nvSpPr>
        <p:spPr>
          <a:xfrm>
            <a:off x="6583680" y="4206240"/>
            <a:ext cx="2103120" cy="411480"/>
          </a:xfrm>
          <a:prstGeom prst="rect">
            <a:avLst/>
          </a:prstGeom>
          <a:noFill/>
          <a:ln/>
        </p:spPr>
        <p:txBody>
          <a:bodyPr wrap="square" lIns="0" tIns="0" rIns="0" bIns="0" rtlCol="0" anchor="ctr"/>
          <a:lstStyle/>
          <a:p>
            <a:pPr indent="0" marL="0">
              <a:buNone/>
            </a:pPr>
            <a:r>
              <a:rPr lang="en-US" sz="1400" b="1" dirty="0">
                <a:solidFill>
                  <a:schemeClr val="tx1"/>
                </a:solidFill>
              </a:rPr>
              <a:t>Link to the original job</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You stay in control</a:t>
            </a:r>
            <a:endParaRPr lang="en-US" sz="3600" dirty="0"/>
          </a:p>
        </p:txBody>
      </p:sp>
      <p:sp>
        <p:nvSpPr>
          <p:cNvPr id="3" name="Control card 1"/>
          <p:cNvSpPr/>
          <p:nvPr/>
        </p:nvSpPr>
        <p:spPr>
          <a:xfrm>
            <a:off x="457200" y="1280160"/>
            <a:ext cx="2606040" cy="1508760"/>
          </a:xfrm>
          <a:prstGeom prst="roundRect">
            <a:avLst>
              <a:gd name="adj" fmla="val 4848"/>
            </a:avLst>
          </a:prstGeom>
          <a:solidFill>
            <a:schemeClr val="bg1"/>
          </a:solidFill>
          <a:ln w="6350">
            <a:solidFill>
              <a:srgbClr val="F4F7FA"/>
            </a:solidFill>
            <a:prstDash val="solid"/>
          </a:ln>
          <a:effectLst>
            <a:outerShdw sx="100000" sy="100000" kx="0" ky="0" algn="bl" rotWithShape="0" blurRad="101600" dist="25400" dir="5400000">
              <a:srgbClr val="000000">
                <a:alpha val="12000"/>
              </a:srgbClr>
            </a:outerShdw>
          </a:effectLst>
        </p:spPr>
      </p:sp>
      <p:sp>
        <p:nvSpPr>
          <p:cNvPr id="4" name="Control 1 circle"/>
          <p:cNvSpPr/>
          <p:nvPr/>
        </p:nvSpPr>
        <p:spPr>
          <a:xfrm>
            <a:off x="640080" y="1463040"/>
            <a:ext cx="457200" cy="457200"/>
          </a:xfrm>
          <a:prstGeom prst="ellipse">
            <a:avLst/>
          </a:prstGeom>
          <a:solidFill>
            <a:schemeClr val="accent1"/>
          </a:solidFill>
          <a:ln w="12700">
            <a:solidFill>
              <a:schemeClr val="accent1"/>
            </a:solidFill>
            <a:prstDash val="solid"/>
          </a:ln>
        </p:spPr>
      </p:sp>
      <p:pic>
        <p:nvPicPr>
          <p:cNvPr id="5" name="Control 1 icon" descr="Eye icon">    </p:cNvPr>
          <p:cNvPicPr>
            <a:picLocks noChangeAspect="1"/>
          </p:cNvPicPr>
          <p:nvPr/>
        </p:nvPicPr>
        <p:blipFill>
          <a:blip r:embed="rId1"/>
          <a:stretch>
            <a:fillRect/>
          </a:stretch>
        </p:blipFill>
        <p:spPr>
          <a:xfrm>
            <a:off x="758952" y="1581912"/>
            <a:ext cx="219456" cy="219456"/>
          </a:xfrm>
          <a:prstGeom prst="rect">
            <a:avLst/>
          </a:prstGeom>
        </p:spPr>
      </p:pic>
      <p:sp>
        <p:nvSpPr>
          <p:cNvPr id="6" name="Control title 1"/>
          <p:cNvSpPr txBox="1"/>
          <p:nvPr/>
        </p:nvSpPr>
        <p:spPr>
          <a:xfrm>
            <a:off x="1234440" y="1463040"/>
            <a:ext cx="1691640" cy="457200"/>
          </a:xfrm>
          <a:prstGeom prst="rect">
            <a:avLst/>
          </a:prstGeom>
          <a:noFill/>
          <a:ln/>
        </p:spPr>
        <p:txBody>
          <a:bodyPr wrap="square" lIns="0" tIns="0" rIns="0" bIns="0" rtlCol="0" anchor="ctr"/>
          <a:lstStyle/>
          <a:p>
            <a:pPr indent="0" marL="0">
              <a:buNone/>
            </a:pPr>
            <a:r>
              <a:rPr lang="en-US" sz="1600" b="1" dirty="0">
                <a:solidFill>
                  <a:schemeClr val="tx1"/>
                </a:solidFill>
              </a:rPr>
              <a:t>Dry run first</a:t>
            </a:r>
            <a:endParaRPr lang="en-US" sz="1600" dirty="0"/>
          </a:p>
        </p:txBody>
      </p:sp>
      <p:sp>
        <p:nvSpPr>
          <p:cNvPr id="7" name="Control body 1"/>
          <p:cNvSpPr txBox="1"/>
          <p:nvPr/>
        </p:nvSpPr>
        <p:spPr>
          <a:xfrm>
            <a:off x="640080" y="2057400"/>
            <a:ext cx="2240280" cy="640080"/>
          </a:xfrm>
          <a:prstGeom prst="rect">
            <a:avLst/>
          </a:prstGeom>
          <a:noFill/>
          <a:ln/>
        </p:spPr>
        <p:txBody>
          <a:bodyPr wrap="square" lIns="0" tIns="0" rIns="0" bIns="0" rtlCol="0" anchor="t"/>
          <a:lstStyle/>
          <a:p>
            <a:pPr indent="0" marL="0">
              <a:buNone/>
            </a:pPr>
            <a:r>
              <a:rPr lang="en-US" sz="1400" dirty="0">
                <a:solidFill>
                  <a:schemeClr val="accent5"/>
                </a:solidFill>
              </a:rPr>
              <a:t>Preview matches before anything is submitted.</a:t>
            </a:r>
            <a:endParaRPr lang="en-US" sz="1400" dirty="0"/>
          </a:p>
        </p:txBody>
      </p:sp>
      <p:sp>
        <p:nvSpPr>
          <p:cNvPr id="8" name="Control card 2"/>
          <p:cNvSpPr/>
          <p:nvPr/>
        </p:nvSpPr>
        <p:spPr>
          <a:xfrm>
            <a:off x="3246120" y="1280160"/>
            <a:ext cx="2606040" cy="1508760"/>
          </a:xfrm>
          <a:prstGeom prst="roundRect">
            <a:avLst>
              <a:gd name="adj" fmla="val 4848"/>
            </a:avLst>
          </a:prstGeom>
          <a:solidFill>
            <a:schemeClr val="bg1"/>
          </a:solidFill>
          <a:ln w="6350">
            <a:solidFill>
              <a:srgbClr val="F4F7FA"/>
            </a:solidFill>
            <a:prstDash val="solid"/>
          </a:ln>
          <a:effectLst>
            <a:outerShdw sx="100000" sy="100000" kx="0" ky="0" algn="bl" rotWithShape="0" blurRad="101600" dist="25400" dir="5400000">
              <a:srgbClr val="000000">
                <a:alpha val="12000"/>
              </a:srgbClr>
            </a:outerShdw>
          </a:effectLst>
        </p:spPr>
      </p:sp>
      <p:sp>
        <p:nvSpPr>
          <p:cNvPr id="9" name="Control 2 circle"/>
          <p:cNvSpPr/>
          <p:nvPr/>
        </p:nvSpPr>
        <p:spPr>
          <a:xfrm>
            <a:off x="3429000" y="1463040"/>
            <a:ext cx="457200" cy="457200"/>
          </a:xfrm>
          <a:prstGeom prst="ellipse">
            <a:avLst/>
          </a:prstGeom>
          <a:solidFill>
            <a:schemeClr val="accent1"/>
          </a:solidFill>
          <a:ln w="12700">
            <a:solidFill>
              <a:schemeClr val="accent1"/>
            </a:solidFill>
            <a:prstDash val="solid"/>
          </a:ln>
        </p:spPr>
      </p:sp>
      <p:pic>
        <p:nvPicPr>
          <p:cNvPr id="10" name="Control 2 icon" descr="Sliders icon">    </p:cNvPr>
          <p:cNvPicPr>
            <a:picLocks noChangeAspect="1"/>
          </p:cNvPicPr>
          <p:nvPr/>
        </p:nvPicPr>
        <p:blipFill>
          <a:blip r:embed="rId2"/>
          <a:stretch>
            <a:fillRect/>
          </a:stretch>
        </p:blipFill>
        <p:spPr>
          <a:xfrm>
            <a:off x="3547872" y="1581912"/>
            <a:ext cx="219456" cy="219456"/>
          </a:xfrm>
          <a:prstGeom prst="rect">
            <a:avLst/>
          </a:prstGeom>
        </p:spPr>
      </p:pic>
      <p:sp>
        <p:nvSpPr>
          <p:cNvPr id="11" name="Control title 2"/>
          <p:cNvSpPr txBox="1"/>
          <p:nvPr/>
        </p:nvSpPr>
        <p:spPr>
          <a:xfrm>
            <a:off x="4023360" y="1463040"/>
            <a:ext cx="1691640" cy="457200"/>
          </a:xfrm>
          <a:prstGeom prst="rect">
            <a:avLst/>
          </a:prstGeom>
          <a:noFill/>
          <a:ln/>
        </p:spPr>
        <p:txBody>
          <a:bodyPr wrap="square" lIns="0" tIns="0" rIns="0" bIns="0" rtlCol="0" anchor="ctr"/>
          <a:lstStyle/>
          <a:p>
            <a:pPr indent="0" marL="0">
              <a:buNone/>
            </a:pPr>
            <a:r>
              <a:rPr lang="en-US" sz="1600" b="1" dirty="0">
                <a:solidFill>
                  <a:schemeClr val="tx1"/>
                </a:solidFill>
              </a:rPr>
              <a:t>Your limits</a:t>
            </a:r>
            <a:endParaRPr lang="en-US" sz="1600" dirty="0"/>
          </a:p>
        </p:txBody>
      </p:sp>
      <p:sp>
        <p:nvSpPr>
          <p:cNvPr id="12" name="Control body 2"/>
          <p:cNvSpPr txBox="1"/>
          <p:nvPr/>
        </p:nvSpPr>
        <p:spPr>
          <a:xfrm>
            <a:off x="3429000" y="2057400"/>
            <a:ext cx="2240280" cy="640080"/>
          </a:xfrm>
          <a:prstGeom prst="rect">
            <a:avLst/>
          </a:prstGeom>
          <a:noFill/>
          <a:ln/>
        </p:spPr>
        <p:txBody>
          <a:bodyPr wrap="square" lIns="0" tIns="0" rIns="0" bIns="0" rtlCol="0" anchor="t"/>
          <a:lstStyle/>
          <a:p>
            <a:pPr indent="0" marL="0">
              <a:buNone/>
            </a:pPr>
            <a:r>
              <a:rPr lang="en-US" sz="1400" dirty="0">
                <a:solidFill>
                  <a:schemeClr val="accent5"/>
                </a:solidFill>
              </a:rPr>
              <a:t>Minimum match % and a cap per portal per run.</a:t>
            </a:r>
            <a:endParaRPr lang="en-US" sz="1400" dirty="0"/>
          </a:p>
        </p:txBody>
      </p:sp>
      <p:sp>
        <p:nvSpPr>
          <p:cNvPr id="13" name="Control card 3"/>
          <p:cNvSpPr/>
          <p:nvPr/>
        </p:nvSpPr>
        <p:spPr>
          <a:xfrm>
            <a:off x="6035040" y="1280160"/>
            <a:ext cx="2606040" cy="1508760"/>
          </a:xfrm>
          <a:prstGeom prst="roundRect">
            <a:avLst>
              <a:gd name="adj" fmla="val 4848"/>
            </a:avLst>
          </a:prstGeom>
          <a:solidFill>
            <a:schemeClr val="bg1"/>
          </a:solidFill>
          <a:ln w="6350">
            <a:solidFill>
              <a:srgbClr val="F4F7FA"/>
            </a:solidFill>
            <a:prstDash val="solid"/>
          </a:ln>
          <a:effectLst>
            <a:outerShdw sx="100000" sy="100000" kx="0" ky="0" algn="bl" rotWithShape="0" blurRad="101600" dist="25400" dir="5400000">
              <a:srgbClr val="000000">
                <a:alpha val="12000"/>
              </a:srgbClr>
            </a:outerShdw>
          </a:effectLst>
        </p:spPr>
      </p:sp>
      <p:sp>
        <p:nvSpPr>
          <p:cNvPr id="14" name="Control 3 circle"/>
          <p:cNvSpPr/>
          <p:nvPr/>
        </p:nvSpPr>
        <p:spPr>
          <a:xfrm>
            <a:off x="6217920" y="1463040"/>
            <a:ext cx="457200" cy="457200"/>
          </a:xfrm>
          <a:prstGeom prst="ellipse">
            <a:avLst/>
          </a:prstGeom>
          <a:solidFill>
            <a:schemeClr val="accent1"/>
          </a:solidFill>
          <a:ln w="12700">
            <a:solidFill>
              <a:schemeClr val="accent1"/>
            </a:solidFill>
            <a:prstDash val="solid"/>
          </a:ln>
        </p:spPr>
      </p:sp>
      <p:pic>
        <p:nvPicPr>
          <p:cNvPr id="15" name="Control 3 icon" descr="Lock icon">    </p:cNvPr>
          <p:cNvPicPr>
            <a:picLocks noChangeAspect="1"/>
          </p:cNvPicPr>
          <p:nvPr/>
        </p:nvPicPr>
        <p:blipFill>
          <a:blip r:embed="rId3"/>
          <a:stretch>
            <a:fillRect/>
          </a:stretch>
        </p:blipFill>
        <p:spPr>
          <a:xfrm>
            <a:off x="6336792" y="1581912"/>
            <a:ext cx="219456" cy="219456"/>
          </a:xfrm>
          <a:prstGeom prst="rect">
            <a:avLst/>
          </a:prstGeom>
        </p:spPr>
      </p:pic>
      <p:sp>
        <p:nvSpPr>
          <p:cNvPr id="16" name="Control title 3"/>
          <p:cNvSpPr txBox="1"/>
          <p:nvPr/>
        </p:nvSpPr>
        <p:spPr>
          <a:xfrm>
            <a:off x="6812280" y="1463040"/>
            <a:ext cx="1691640" cy="457200"/>
          </a:xfrm>
          <a:prstGeom prst="rect">
            <a:avLst/>
          </a:prstGeom>
          <a:noFill/>
          <a:ln/>
        </p:spPr>
        <p:txBody>
          <a:bodyPr wrap="square" lIns="0" tIns="0" rIns="0" bIns="0" rtlCol="0" anchor="ctr"/>
          <a:lstStyle/>
          <a:p>
            <a:pPr indent="0" marL="0">
              <a:buNone/>
            </a:pPr>
            <a:r>
              <a:rPr lang="en-US" sz="1600" b="1" dirty="0">
                <a:solidFill>
                  <a:schemeClr val="tx1"/>
                </a:solidFill>
              </a:rPr>
              <a:t>Data stays local</a:t>
            </a:r>
            <a:endParaRPr lang="en-US" sz="1600" dirty="0"/>
          </a:p>
        </p:txBody>
      </p:sp>
      <p:sp>
        <p:nvSpPr>
          <p:cNvPr id="17" name="Control body 3"/>
          <p:cNvSpPr txBox="1"/>
          <p:nvPr/>
        </p:nvSpPr>
        <p:spPr>
          <a:xfrm>
            <a:off x="6217920" y="2057400"/>
            <a:ext cx="2240280" cy="640080"/>
          </a:xfrm>
          <a:prstGeom prst="rect">
            <a:avLst/>
          </a:prstGeom>
          <a:noFill/>
          <a:ln/>
        </p:spPr>
        <p:txBody>
          <a:bodyPr wrap="square" lIns="0" tIns="0" rIns="0" bIns="0" rtlCol="0" anchor="t"/>
          <a:lstStyle/>
          <a:p>
            <a:pPr indent="0" marL="0">
              <a:buNone/>
            </a:pPr>
            <a:r>
              <a:rPr lang="en-US" sz="1400" dirty="0">
                <a:solidFill>
                  <a:schemeClr val="accent5"/>
                </a:solidFill>
              </a:rPr>
              <a:t>Resume, logins and history live on your PC.</a:t>
            </a:r>
            <a:endParaRPr lang="en-US" sz="1400" dirty="0"/>
          </a:p>
        </p:txBody>
      </p:sp>
      <p:sp>
        <p:nvSpPr>
          <p:cNvPr id="18" name="Control card 4"/>
          <p:cNvSpPr/>
          <p:nvPr/>
        </p:nvSpPr>
        <p:spPr>
          <a:xfrm>
            <a:off x="457200" y="2971800"/>
            <a:ext cx="2606040" cy="1508760"/>
          </a:xfrm>
          <a:prstGeom prst="roundRect">
            <a:avLst>
              <a:gd name="adj" fmla="val 4848"/>
            </a:avLst>
          </a:prstGeom>
          <a:solidFill>
            <a:schemeClr val="bg1"/>
          </a:solidFill>
          <a:ln w="6350">
            <a:solidFill>
              <a:srgbClr val="F4F7FA"/>
            </a:solidFill>
            <a:prstDash val="solid"/>
          </a:ln>
          <a:effectLst>
            <a:outerShdw sx="100000" sy="100000" kx="0" ky="0" algn="bl" rotWithShape="0" blurRad="101600" dist="25400" dir="5400000">
              <a:srgbClr val="000000">
                <a:alpha val="12000"/>
              </a:srgbClr>
            </a:outerShdw>
          </a:effectLst>
        </p:spPr>
      </p:sp>
      <p:sp>
        <p:nvSpPr>
          <p:cNvPr id="19" name="Control 4 circle"/>
          <p:cNvSpPr/>
          <p:nvPr/>
        </p:nvSpPr>
        <p:spPr>
          <a:xfrm>
            <a:off x="640080" y="3154680"/>
            <a:ext cx="457200" cy="457200"/>
          </a:xfrm>
          <a:prstGeom prst="ellipse">
            <a:avLst/>
          </a:prstGeom>
          <a:solidFill>
            <a:schemeClr val="accent1"/>
          </a:solidFill>
          <a:ln w="12700">
            <a:solidFill>
              <a:schemeClr val="accent1"/>
            </a:solidFill>
            <a:prstDash val="solid"/>
          </a:ln>
        </p:spPr>
      </p:sp>
      <p:pic>
        <p:nvPicPr>
          <p:cNvPr id="20" name="Control 4 icon" descr="PauseCircle icon">    </p:cNvPr>
          <p:cNvPicPr>
            <a:picLocks noChangeAspect="1"/>
          </p:cNvPicPr>
          <p:nvPr/>
        </p:nvPicPr>
        <p:blipFill>
          <a:blip r:embed="rId4"/>
          <a:stretch>
            <a:fillRect/>
          </a:stretch>
        </p:blipFill>
        <p:spPr>
          <a:xfrm>
            <a:off x="758952" y="3273552"/>
            <a:ext cx="219456" cy="219456"/>
          </a:xfrm>
          <a:prstGeom prst="rect">
            <a:avLst/>
          </a:prstGeom>
        </p:spPr>
      </p:pic>
      <p:sp>
        <p:nvSpPr>
          <p:cNvPr id="21" name="Control title 4"/>
          <p:cNvSpPr txBox="1"/>
          <p:nvPr/>
        </p:nvSpPr>
        <p:spPr>
          <a:xfrm>
            <a:off x="1234440" y="3154680"/>
            <a:ext cx="1691640" cy="457200"/>
          </a:xfrm>
          <a:prstGeom prst="rect">
            <a:avLst/>
          </a:prstGeom>
          <a:noFill/>
          <a:ln/>
        </p:spPr>
        <p:txBody>
          <a:bodyPr wrap="square" lIns="0" tIns="0" rIns="0" bIns="0" rtlCol="0" anchor="ctr"/>
          <a:lstStyle/>
          <a:p>
            <a:pPr indent="0" marL="0">
              <a:buNone/>
            </a:pPr>
            <a:r>
              <a:rPr lang="en-US" sz="1600" b="1" dirty="0">
                <a:solidFill>
                  <a:schemeClr val="tx1"/>
                </a:solidFill>
              </a:rPr>
              <a:t>Stops when unsure</a:t>
            </a:r>
            <a:endParaRPr lang="en-US" sz="1600" dirty="0"/>
          </a:p>
        </p:txBody>
      </p:sp>
      <p:sp>
        <p:nvSpPr>
          <p:cNvPr id="22" name="Control body 4"/>
          <p:cNvSpPr txBox="1"/>
          <p:nvPr/>
        </p:nvSpPr>
        <p:spPr>
          <a:xfrm>
            <a:off x="640080" y="3749040"/>
            <a:ext cx="2240280" cy="640080"/>
          </a:xfrm>
          <a:prstGeom prst="rect">
            <a:avLst/>
          </a:prstGeom>
          <a:noFill/>
          <a:ln/>
        </p:spPr>
        <p:txBody>
          <a:bodyPr wrap="square" lIns="0" tIns="0" rIns="0" bIns="0" rtlCol="0" anchor="t"/>
          <a:lstStyle/>
          <a:p>
            <a:pPr indent="0" marL="0">
              <a:buNone/>
            </a:pPr>
            <a:r>
              <a:rPr lang="en-US" sz="1400" dirty="0">
                <a:solidFill>
                  <a:schemeClr val="accent5"/>
                </a:solidFill>
              </a:rPr>
              <a:t>A required question it can't answer is left to you.</a:t>
            </a:r>
            <a:endParaRPr lang="en-US" sz="1400" dirty="0"/>
          </a:p>
        </p:txBody>
      </p:sp>
      <p:sp>
        <p:nvSpPr>
          <p:cNvPr id="23" name="Control card 5"/>
          <p:cNvSpPr/>
          <p:nvPr/>
        </p:nvSpPr>
        <p:spPr>
          <a:xfrm>
            <a:off x="3246120" y="2971800"/>
            <a:ext cx="2606040" cy="1508760"/>
          </a:xfrm>
          <a:prstGeom prst="roundRect">
            <a:avLst>
              <a:gd name="adj" fmla="val 4848"/>
            </a:avLst>
          </a:prstGeom>
          <a:solidFill>
            <a:schemeClr val="bg1"/>
          </a:solidFill>
          <a:ln w="6350">
            <a:solidFill>
              <a:srgbClr val="F4F7FA"/>
            </a:solidFill>
            <a:prstDash val="solid"/>
          </a:ln>
          <a:effectLst>
            <a:outerShdw sx="100000" sy="100000" kx="0" ky="0" algn="bl" rotWithShape="0" blurRad="101600" dist="25400" dir="5400000">
              <a:srgbClr val="000000">
                <a:alpha val="12000"/>
              </a:srgbClr>
            </a:outerShdw>
          </a:effectLst>
        </p:spPr>
      </p:sp>
      <p:sp>
        <p:nvSpPr>
          <p:cNvPr id="24" name="Control 5 circle"/>
          <p:cNvSpPr/>
          <p:nvPr/>
        </p:nvSpPr>
        <p:spPr>
          <a:xfrm>
            <a:off x="3429000" y="3154680"/>
            <a:ext cx="457200" cy="457200"/>
          </a:xfrm>
          <a:prstGeom prst="ellipse">
            <a:avLst/>
          </a:prstGeom>
          <a:solidFill>
            <a:schemeClr val="accent1"/>
          </a:solidFill>
          <a:ln w="12700">
            <a:solidFill>
              <a:schemeClr val="accent1"/>
            </a:solidFill>
            <a:prstDash val="solid"/>
          </a:ln>
        </p:spPr>
      </p:sp>
      <p:pic>
        <p:nvPicPr>
          <p:cNvPr id="25" name="Control 5 icon" descr="Shield icon">    </p:cNvPr>
          <p:cNvPicPr>
            <a:picLocks noChangeAspect="1"/>
          </p:cNvPicPr>
          <p:nvPr/>
        </p:nvPicPr>
        <p:blipFill>
          <a:blip r:embed="rId5"/>
          <a:stretch>
            <a:fillRect/>
          </a:stretch>
        </p:blipFill>
        <p:spPr>
          <a:xfrm>
            <a:off x="3547872" y="3273552"/>
            <a:ext cx="219456" cy="219456"/>
          </a:xfrm>
          <a:prstGeom prst="rect">
            <a:avLst/>
          </a:prstGeom>
        </p:spPr>
      </p:pic>
      <p:sp>
        <p:nvSpPr>
          <p:cNvPr id="26" name="Control title 5"/>
          <p:cNvSpPr txBox="1"/>
          <p:nvPr/>
        </p:nvSpPr>
        <p:spPr>
          <a:xfrm>
            <a:off x="4023360" y="3154680"/>
            <a:ext cx="1691640" cy="457200"/>
          </a:xfrm>
          <a:prstGeom prst="rect">
            <a:avLst/>
          </a:prstGeom>
          <a:noFill/>
          <a:ln/>
        </p:spPr>
        <p:txBody>
          <a:bodyPr wrap="square" lIns="0" tIns="0" rIns="0" bIns="0" rtlCol="0" anchor="ctr"/>
          <a:lstStyle/>
          <a:p>
            <a:pPr indent="0" marL="0">
              <a:buNone/>
            </a:pPr>
            <a:r>
              <a:rPr lang="en-US" sz="1600" b="1" dirty="0">
                <a:solidFill>
                  <a:schemeClr val="tx1"/>
                </a:solidFill>
              </a:rPr>
              <a:t>No workarounds</a:t>
            </a:r>
            <a:endParaRPr lang="en-US" sz="1600" dirty="0"/>
          </a:p>
        </p:txBody>
      </p:sp>
      <p:sp>
        <p:nvSpPr>
          <p:cNvPr id="27" name="Control body 5"/>
          <p:cNvSpPr txBox="1"/>
          <p:nvPr/>
        </p:nvSpPr>
        <p:spPr>
          <a:xfrm>
            <a:off x="3429000" y="3749040"/>
            <a:ext cx="2240280" cy="640080"/>
          </a:xfrm>
          <a:prstGeom prst="rect">
            <a:avLst/>
          </a:prstGeom>
          <a:noFill/>
          <a:ln/>
        </p:spPr>
        <p:txBody>
          <a:bodyPr wrap="square" lIns="0" tIns="0" rIns="0" bIns="0" rtlCol="0" anchor="t"/>
          <a:lstStyle/>
          <a:p>
            <a:pPr indent="0" marL="0">
              <a:buNone/>
            </a:pPr>
            <a:r>
              <a:rPr lang="en-US" sz="1400" dirty="0">
                <a:solidFill>
                  <a:schemeClr val="accent5"/>
                </a:solidFill>
              </a:rPr>
              <a:t>It never solves CAPTCHAs or creates accounts.</a:t>
            </a:r>
            <a:endParaRPr lang="en-US" sz="1400" dirty="0"/>
          </a:p>
        </p:txBody>
      </p:sp>
      <p:sp>
        <p:nvSpPr>
          <p:cNvPr id="28" name="Control card 6"/>
          <p:cNvSpPr/>
          <p:nvPr/>
        </p:nvSpPr>
        <p:spPr>
          <a:xfrm>
            <a:off x="6035040" y="2971800"/>
            <a:ext cx="2606040" cy="1508760"/>
          </a:xfrm>
          <a:prstGeom prst="roundRect">
            <a:avLst>
              <a:gd name="adj" fmla="val 4848"/>
            </a:avLst>
          </a:prstGeom>
          <a:solidFill>
            <a:schemeClr val="bg1"/>
          </a:solidFill>
          <a:ln w="6350">
            <a:solidFill>
              <a:srgbClr val="F4F7FA"/>
            </a:solidFill>
            <a:prstDash val="solid"/>
          </a:ln>
          <a:effectLst>
            <a:outerShdw sx="100000" sy="100000" kx="0" ky="0" algn="bl" rotWithShape="0" blurRad="101600" dist="25400" dir="5400000">
              <a:srgbClr val="000000">
                <a:alpha val="12000"/>
              </a:srgbClr>
            </a:outerShdw>
          </a:effectLst>
        </p:spPr>
      </p:sp>
      <p:sp>
        <p:nvSpPr>
          <p:cNvPr id="29" name="Control 6 circle"/>
          <p:cNvSpPr/>
          <p:nvPr/>
        </p:nvSpPr>
        <p:spPr>
          <a:xfrm>
            <a:off x="6217920" y="3154680"/>
            <a:ext cx="457200" cy="457200"/>
          </a:xfrm>
          <a:prstGeom prst="ellipse">
            <a:avLst/>
          </a:prstGeom>
          <a:solidFill>
            <a:schemeClr val="accent1"/>
          </a:solidFill>
          <a:ln w="12700">
            <a:solidFill>
              <a:schemeClr val="accent1"/>
            </a:solidFill>
            <a:prstDash val="solid"/>
          </a:ln>
        </p:spPr>
      </p:sp>
      <p:pic>
        <p:nvPicPr>
          <p:cNvPr id="30" name="Control 6 icon" descr="CheckSquare icon">    </p:cNvPr>
          <p:cNvPicPr>
            <a:picLocks noChangeAspect="1"/>
          </p:cNvPicPr>
          <p:nvPr/>
        </p:nvPicPr>
        <p:blipFill>
          <a:blip r:embed="rId6"/>
          <a:stretch>
            <a:fillRect/>
          </a:stretch>
        </p:blipFill>
        <p:spPr>
          <a:xfrm>
            <a:off x="6336792" y="3273552"/>
            <a:ext cx="219456" cy="219456"/>
          </a:xfrm>
          <a:prstGeom prst="rect">
            <a:avLst/>
          </a:prstGeom>
        </p:spPr>
      </p:pic>
      <p:sp>
        <p:nvSpPr>
          <p:cNvPr id="31" name="Control title 6"/>
          <p:cNvSpPr txBox="1"/>
          <p:nvPr/>
        </p:nvSpPr>
        <p:spPr>
          <a:xfrm>
            <a:off x="6812280" y="3154680"/>
            <a:ext cx="1691640" cy="457200"/>
          </a:xfrm>
          <a:prstGeom prst="rect">
            <a:avLst/>
          </a:prstGeom>
          <a:noFill/>
          <a:ln/>
        </p:spPr>
        <p:txBody>
          <a:bodyPr wrap="square" lIns="0" tIns="0" rIns="0" bIns="0" rtlCol="0" anchor="ctr"/>
          <a:lstStyle/>
          <a:p>
            <a:pPr indent="0" marL="0">
              <a:buNone/>
            </a:pPr>
            <a:r>
              <a:rPr lang="en-US" sz="1600" b="1" dirty="0">
                <a:solidFill>
                  <a:schemeClr val="tx1"/>
                </a:solidFill>
              </a:rPr>
              <a:t>Consent is opt-in</a:t>
            </a:r>
            <a:endParaRPr lang="en-US" sz="1600" dirty="0"/>
          </a:p>
        </p:txBody>
      </p:sp>
      <p:sp>
        <p:nvSpPr>
          <p:cNvPr id="32" name="Control body 6"/>
          <p:cNvSpPr txBox="1"/>
          <p:nvPr/>
        </p:nvSpPr>
        <p:spPr>
          <a:xfrm>
            <a:off x="6217920" y="3749040"/>
            <a:ext cx="2240280" cy="640080"/>
          </a:xfrm>
          <a:prstGeom prst="rect">
            <a:avLst/>
          </a:prstGeom>
          <a:noFill/>
          <a:ln/>
        </p:spPr>
        <p:txBody>
          <a:bodyPr wrap="square" lIns="0" tIns="0" rIns="0" bIns="0" rtlCol="0" anchor="t"/>
          <a:lstStyle/>
          <a:p>
            <a:pPr indent="0" marL="0">
              <a:buNone/>
            </a:pPr>
            <a:r>
              <a:rPr lang="en-US" sz="1400" dirty="0">
                <a:solidFill>
                  <a:schemeClr val="accent5"/>
                </a:solidFill>
              </a:rPr>
              <a:t>Privacy boxes are ticked only if you allow it.</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Tune it to your profile</a:t>
            </a:r>
            <a:endParaRPr lang="en-US" sz="3600" dirty="0"/>
          </a:p>
        </p:txBody>
      </p:sp>
      <p:sp>
        <p:nvSpPr>
          <p:cNvPr id="3" name="settings page frame"/>
          <p:cNvSpPr/>
          <p:nvPr/>
        </p:nvSpPr>
        <p:spPr>
          <a:xfrm>
            <a:off x="457200" y="1143000"/>
            <a:ext cx="5439340" cy="3392424"/>
          </a:xfrm>
          <a:prstGeom prst="roundRect">
            <a:avLst>
              <a:gd name="adj" fmla="val 2156"/>
            </a:avLst>
          </a:prstGeom>
          <a:solidFill>
            <a:schemeClr val="bg1"/>
          </a:solidFill>
          <a:ln w="6350">
            <a:solidFill>
              <a:srgbClr val="F4F7FA"/>
            </a:solidFill>
            <a:prstDash val="solid"/>
          </a:ln>
          <a:effectLst>
            <a:outerShdw sx="100000" sy="100000" kx="0" ky="0" algn="bl" rotWithShape="0" blurRad="101600" dist="25400" dir="5400000">
              <a:srgbClr val="000000">
                <a:alpha val="12000"/>
              </a:srgbClr>
            </a:outerShdw>
          </a:effectLst>
        </p:spPr>
      </p:sp>
      <p:pic>
        <p:nvPicPr>
          <p:cNvPr id="4" name="settings page" descr="Screenshot of the settings page (sample data)">    </p:cNvPr>
          <p:cNvPicPr>
            <a:picLocks noChangeAspect="1"/>
          </p:cNvPicPr>
          <p:nvPr/>
        </p:nvPicPr>
        <p:blipFill>
          <a:blip r:embed="rId1"/>
          <a:stretch>
            <a:fillRect/>
          </a:stretch>
        </p:blipFill>
        <p:spPr>
          <a:xfrm>
            <a:off x="530352" y="1216152"/>
            <a:ext cx="5293036" cy="3246120"/>
          </a:xfrm>
          <a:prstGeom prst="rect">
            <a:avLst/>
          </a:prstGeom>
        </p:spPr>
      </p:pic>
      <p:sp>
        <p:nvSpPr>
          <p:cNvPr id="5" name="Tune 1 circle"/>
          <p:cNvSpPr/>
          <p:nvPr/>
        </p:nvSpPr>
        <p:spPr>
          <a:xfrm>
            <a:off x="5852160" y="1325880"/>
            <a:ext cx="502920" cy="502920"/>
          </a:xfrm>
          <a:prstGeom prst="ellipse">
            <a:avLst/>
          </a:prstGeom>
          <a:solidFill>
            <a:schemeClr val="accent1"/>
          </a:solidFill>
          <a:ln w="12700">
            <a:solidFill>
              <a:schemeClr val="accent1"/>
            </a:solidFill>
            <a:prstDash val="solid"/>
          </a:ln>
        </p:spPr>
      </p:sp>
      <p:pic>
        <p:nvPicPr>
          <p:cNvPr id="6" name="Tune 1 icon" descr="User icon">    </p:cNvPr>
          <p:cNvPicPr>
            <a:picLocks noChangeAspect="1"/>
          </p:cNvPicPr>
          <p:nvPr/>
        </p:nvPicPr>
        <p:blipFill>
          <a:blip r:embed="rId2"/>
          <a:stretch>
            <a:fillRect/>
          </a:stretch>
        </p:blipFill>
        <p:spPr>
          <a:xfrm>
            <a:off x="5982919" y="1456639"/>
            <a:ext cx="241402" cy="241402"/>
          </a:xfrm>
          <a:prstGeom prst="rect">
            <a:avLst/>
          </a:prstGeom>
        </p:spPr>
      </p:pic>
      <p:sp>
        <p:nvSpPr>
          <p:cNvPr id="7" name="Tune 1 text"/>
          <p:cNvSpPr txBox="1"/>
          <p:nvPr/>
        </p:nvSpPr>
        <p:spPr>
          <a:xfrm>
            <a:off x="6537960" y="1280160"/>
            <a:ext cx="2148840" cy="685800"/>
          </a:xfrm>
          <a:prstGeom prst="rect">
            <a:avLst/>
          </a:prstGeom>
          <a:noFill/>
          <a:ln/>
        </p:spPr>
        <p:txBody>
          <a:bodyPr wrap="square" lIns="0" tIns="0" rIns="0" bIns="0" rtlCol="0" anchor="t"/>
          <a:lstStyle/>
          <a:p>
            <a:pPr indent="0" marL="0">
              <a:buNone/>
            </a:pPr>
            <a:r>
              <a:rPr lang="en-US" sz="1600" b="1" dirty="0">
                <a:solidFill>
                  <a:schemeClr val="tx1"/>
                </a:solidFill>
              </a:rPr>
              <a:t>Application details</a:t>
            </a:r>
            <a:endParaRPr lang="en-US" sz="1600" dirty="0"/>
          </a:p>
          <a:p>
            <a:pPr indent="0" marL="0">
              <a:buNone/>
            </a:pPr>
            <a:r>
              <a:rPr lang="en-US" sz="1400" dirty="0">
                <a:solidFill>
                  <a:schemeClr val="accent5"/>
                </a:solidFill>
              </a:rPr>
              <a:t>Used to fill company forms.</a:t>
            </a:r>
            <a:endParaRPr lang="en-US" sz="1600" dirty="0"/>
          </a:p>
        </p:txBody>
      </p:sp>
      <p:sp>
        <p:nvSpPr>
          <p:cNvPr id="8" name="Tune 2 circle"/>
          <p:cNvSpPr/>
          <p:nvPr/>
        </p:nvSpPr>
        <p:spPr>
          <a:xfrm>
            <a:off x="5852160" y="2286000"/>
            <a:ext cx="502920" cy="502920"/>
          </a:xfrm>
          <a:prstGeom prst="ellipse">
            <a:avLst/>
          </a:prstGeom>
          <a:solidFill>
            <a:schemeClr val="accent1"/>
          </a:solidFill>
          <a:ln w="12700">
            <a:solidFill>
              <a:schemeClr val="accent1"/>
            </a:solidFill>
            <a:prstDash val="solid"/>
          </a:ln>
        </p:spPr>
      </p:sp>
      <p:pic>
        <p:nvPicPr>
          <p:cNvPr id="9" name="Tune 2 icon" descr="Percent icon">    </p:cNvPr>
          <p:cNvPicPr>
            <a:picLocks noChangeAspect="1"/>
          </p:cNvPicPr>
          <p:nvPr/>
        </p:nvPicPr>
        <p:blipFill>
          <a:blip r:embed="rId3"/>
          <a:stretch>
            <a:fillRect/>
          </a:stretch>
        </p:blipFill>
        <p:spPr>
          <a:xfrm>
            <a:off x="5982919" y="2416759"/>
            <a:ext cx="241402" cy="241402"/>
          </a:xfrm>
          <a:prstGeom prst="rect">
            <a:avLst/>
          </a:prstGeom>
        </p:spPr>
      </p:pic>
      <p:sp>
        <p:nvSpPr>
          <p:cNvPr id="10" name="Tune 2 text"/>
          <p:cNvSpPr txBox="1"/>
          <p:nvPr/>
        </p:nvSpPr>
        <p:spPr>
          <a:xfrm>
            <a:off x="6537960" y="2240280"/>
            <a:ext cx="2148840" cy="685800"/>
          </a:xfrm>
          <a:prstGeom prst="rect">
            <a:avLst/>
          </a:prstGeom>
          <a:noFill/>
          <a:ln/>
        </p:spPr>
        <p:txBody>
          <a:bodyPr wrap="square" lIns="0" tIns="0" rIns="0" bIns="0" rtlCol="0" anchor="t"/>
          <a:lstStyle/>
          <a:p>
            <a:pPr indent="0" marL="0">
              <a:buNone/>
            </a:pPr>
            <a:r>
              <a:rPr lang="en-US" sz="1600" b="1" dirty="0">
                <a:solidFill>
                  <a:schemeClr val="tx1"/>
                </a:solidFill>
              </a:rPr>
              <a:t>Minimum match %</a:t>
            </a:r>
            <a:endParaRPr lang="en-US" sz="1600" dirty="0"/>
          </a:p>
          <a:p>
            <a:pPr indent="0" marL="0">
              <a:buNone/>
            </a:pPr>
            <a:r>
              <a:rPr lang="en-US" sz="1400" dirty="0">
                <a:solidFill>
                  <a:schemeClr val="accent5"/>
                </a:solidFill>
              </a:rPr>
              <a:t>Raise it for fewer, better fits.</a:t>
            </a:r>
            <a:endParaRPr lang="en-US" sz="1600" dirty="0"/>
          </a:p>
        </p:txBody>
      </p:sp>
      <p:sp>
        <p:nvSpPr>
          <p:cNvPr id="11" name="Tune 3 circle"/>
          <p:cNvSpPr/>
          <p:nvPr/>
        </p:nvSpPr>
        <p:spPr>
          <a:xfrm>
            <a:off x="5852160" y="3246120"/>
            <a:ext cx="502920" cy="502920"/>
          </a:xfrm>
          <a:prstGeom prst="ellipse">
            <a:avLst/>
          </a:prstGeom>
          <a:solidFill>
            <a:schemeClr val="accent1"/>
          </a:solidFill>
          <a:ln w="12700">
            <a:solidFill>
              <a:schemeClr val="accent1"/>
            </a:solidFill>
            <a:prstDash val="solid"/>
          </a:ln>
        </p:spPr>
      </p:sp>
      <p:pic>
        <p:nvPicPr>
          <p:cNvPr id="12" name="Tune 3 icon" descr="Hash icon">    </p:cNvPr>
          <p:cNvPicPr>
            <a:picLocks noChangeAspect="1"/>
          </p:cNvPicPr>
          <p:nvPr/>
        </p:nvPicPr>
        <p:blipFill>
          <a:blip r:embed="rId4"/>
          <a:stretch>
            <a:fillRect/>
          </a:stretch>
        </p:blipFill>
        <p:spPr>
          <a:xfrm>
            <a:off x="5982919" y="3376879"/>
            <a:ext cx="241402" cy="241402"/>
          </a:xfrm>
          <a:prstGeom prst="rect">
            <a:avLst/>
          </a:prstGeom>
        </p:spPr>
      </p:pic>
      <p:sp>
        <p:nvSpPr>
          <p:cNvPr id="13" name="Tune 3 text"/>
          <p:cNvSpPr txBox="1"/>
          <p:nvPr/>
        </p:nvSpPr>
        <p:spPr>
          <a:xfrm>
            <a:off x="6537960" y="3200400"/>
            <a:ext cx="2148840" cy="685800"/>
          </a:xfrm>
          <a:prstGeom prst="rect">
            <a:avLst/>
          </a:prstGeom>
          <a:noFill/>
          <a:ln/>
        </p:spPr>
        <p:txBody>
          <a:bodyPr wrap="square" lIns="0" tIns="0" rIns="0" bIns="0" rtlCol="0" anchor="t"/>
          <a:lstStyle/>
          <a:p>
            <a:pPr indent="0" marL="0">
              <a:buNone/>
            </a:pPr>
            <a:r>
              <a:rPr lang="en-US" sz="1600" b="1" dirty="0">
                <a:solidFill>
                  <a:schemeClr val="tx1"/>
                </a:solidFill>
              </a:rPr>
              <a:t>Daily cap</a:t>
            </a:r>
            <a:endParaRPr lang="en-US" sz="1600" dirty="0"/>
          </a:p>
          <a:p>
            <a:pPr indent="0" marL="0">
              <a:buNone/>
            </a:pPr>
            <a:r>
              <a:rPr lang="en-US" sz="1400" dirty="0">
                <a:solidFill>
                  <a:schemeClr val="accent5"/>
                </a:solidFill>
              </a:rPr>
              <a:t>Maximum applications per portal.</a:t>
            </a:r>
            <a:endParaRPr lang="en-US" sz="16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600" b="1" dirty="0">
                <a:solidFill>
                  <a:schemeClr val="tx1"/>
                </a:solidFill>
              </a:rPr>
              <a:t>Good to know</a:t>
            </a:r>
            <a:endParaRPr lang="en-US" sz="3600" dirty="0"/>
          </a:p>
        </p:txBody>
      </p:sp>
      <p:sp>
        <p:nvSpPr>
          <p:cNvPr id="3" name="Know card 1"/>
          <p:cNvSpPr/>
          <p:nvPr/>
        </p:nvSpPr>
        <p:spPr>
          <a:xfrm>
            <a:off x="457200" y="1417320"/>
            <a:ext cx="4023360" cy="1325880"/>
          </a:xfrm>
          <a:prstGeom prst="roundRect">
            <a:avLst>
              <a:gd name="adj" fmla="val 5517"/>
            </a:avLst>
          </a:prstGeom>
          <a:solidFill>
            <a:schemeClr val="bg1"/>
          </a:solidFill>
          <a:ln w="6350">
            <a:solidFill>
              <a:srgbClr val="F4F7FA"/>
            </a:solidFill>
            <a:prstDash val="solid"/>
          </a:ln>
          <a:effectLst>
            <a:outerShdw sx="100000" sy="100000" kx="0" ky="0" algn="bl" rotWithShape="0" blurRad="101600" dist="25400" dir="5400000">
              <a:srgbClr val="000000">
                <a:alpha val="12000"/>
              </a:srgbClr>
            </a:outerShdw>
          </a:effectLst>
        </p:spPr>
      </p:sp>
      <p:sp>
        <p:nvSpPr>
          <p:cNvPr id="4" name="Know 1 circle"/>
          <p:cNvSpPr/>
          <p:nvPr/>
        </p:nvSpPr>
        <p:spPr>
          <a:xfrm>
            <a:off x="685800" y="1645920"/>
            <a:ext cx="502920" cy="502920"/>
          </a:xfrm>
          <a:prstGeom prst="ellipse">
            <a:avLst/>
          </a:prstGeom>
          <a:solidFill>
            <a:schemeClr val="accent2"/>
          </a:solidFill>
          <a:ln w="12700">
            <a:solidFill>
              <a:schemeClr val="accent2"/>
            </a:solidFill>
            <a:prstDash val="solid"/>
          </a:ln>
        </p:spPr>
      </p:sp>
      <p:pic>
        <p:nvPicPr>
          <p:cNvPr id="5" name="Know 1 icon" descr="AlertTriangle icon">    </p:cNvPr>
          <p:cNvPicPr>
            <a:picLocks noChangeAspect="1"/>
          </p:cNvPicPr>
          <p:nvPr/>
        </p:nvPicPr>
        <p:blipFill>
          <a:blip r:embed="rId1"/>
          <a:stretch>
            <a:fillRect/>
          </a:stretch>
        </p:blipFill>
        <p:spPr>
          <a:xfrm>
            <a:off x="816559" y="1776679"/>
            <a:ext cx="241402" cy="241402"/>
          </a:xfrm>
          <a:prstGeom prst="rect">
            <a:avLst/>
          </a:prstGeom>
        </p:spPr>
      </p:pic>
      <p:sp>
        <p:nvSpPr>
          <p:cNvPr id="6" name="Know text 1"/>
          <p:cNvSpPr txBox="1"/>
          <p:nvPr/>
        </p:nvSpPr>
        <p:spPr>
          <a:xfrm>
            <a:off x="1371600" y="1600200"/>
            <a:ext cx="2926080" cy="1005840"/>
          </a:xfrm>
          <a:prstGeom prst="rect">
            <a:avLst/>
          </a:prstGeom>
          <a:noFill/>
          <a:ln/>
        </p:spPr>
        <p:txBody>
          <a:bodyPr wrap="square" lIns="0" tIns="0" rIns="0" bIns="0" rtlCol="0" anchor="t"/>
          <a:lstStyle/>
          <a:p>
            <a:pPr indent="0" marL="0">
              <a:buNone/>
            </a:pPr>
            <a:r>
              <a:rPr lang="en-US" sz="1600" b="1" dirty="0">
                <a:solidFill>
                  <a:schemeClr val="tx1"/>
                </a:solidFill>
              </a:rPr>
              <a:t>Portal terms</a:t>
            </a:r>
            <a:endParaRPr lang="en-US" sz="1600" dirty="0"/>
          </a:p>
          <a:p>
            <a:pPr indent="0" marL="0">
              <a:buNone/>
            </a:pPr>
            <a:r>
              <a:rPr lang="en-US" sz="1400" dirty="0">
                <a:solidFill>
                  <a:schemeClr val="accent5"/>
                </a:solidFill>
              </a:rPr>
              <a:t>Automated applying may breach a portal's terms. Use modest limits.</a:t>
            </a:r>
            <a:endParaRPr lang="en-US" sz="1600" dirty="0"/>
          </a:p>
        </p:txBody>
      </p:sp>
      <p:sp>
        <p:nvSpPr>
          <p:cNvPr id="7" name="Know card 2"/>
          <p:cNvSpPr/>
          <p:nvPr/>
        </p:nvSpPr>
        <p:spPr>
          <a:xfrm>
            <a:off x="4663440" y="1417320"/>
            <a:ext cx="4023360" cy="1325880"/>
          </a:xfrm>
          <a:prstGeom prst="roundRect">
            <a:avLst>
              <a:gd name="adj" fmla="val 5517"/>
            </a:avLst>
          </a:prstGeom>
          <a:solidFill>
            <a:schemeClr val="bg1"/>
          </a:solidFill>
          <a:ln w="6350">
            <a:solidFill>
              <a:srgbClr val="F4F7FA"/>
            </a:solidFill>
            <a:prstDash val="solid"/>
          </a:ln>
          <a:effectLst>
            <a:outerShdw sx="100000" sy="100000" kx="0" ky="0" algn="bl" rotWithShape="0" blurRad="101600" dist="25400" dir="5400000">
              <a:srgbClr val="000000">
                <a:alpha val="12000"/>
              </a:srgbClr>
            </a:outerShdw>
          </a:effectLst>
        </p:spPr>
      </p:sp>
      <p:sp>
        <p:nvSpPr>
          <p:cNvPr id="8" name="Know 2 circle"/>
          <p:cNvSpPr/>
          <p:nvPr/>
        </p:nvSpPr>
        <p:spPr>
          <a:xfrm>
            <a:off x="4892040" y="1645920"/>
            <a:ext cx="502920" cy="502920"/>
          </a:xfrm>
          <a:prstGeom prst="ellipse">
            <a:avLst/>
          </a:prstGeom>
          <a:solidFill>
            <a:schemeClr val="accent2"/>
          </a:solidFill>
          <a:ln w="12700">
            <a:solidFill>
              <a:schemeClr val="accent2"/>
            </a:solidFill>
            <a:prstDash val="solid"/>
          </a:ln>
        </p:spPr>
      </p:sp>
      <p:pic>
        <p:nvPicPr>
          <p:cNvPr id="9" name="Know 2 icon" descr="Tool icon">    </p:cNvPr>
          <p:cNvPicPr>
            <a:picLocks noChangeAspect="1"/>
          </p:cNvPicPr>
          <p:nvPr/>
        </p:nvPicPr>
        <p:blipFill>
          <a:blip r:embed="rId2"/>
          <a:stretch>
            <a:fillRect/>
          </a:stretch>
        </p:blipFill>
        <p:spPr>
          <a:xfrm>
            <a:off x="5022799" y="1776679"/>
            <a:ext cx="241402" cy="241402"/>
          </a:xfrm>
          <a:prstGeom prst="rect">
            <a:avLst/>
          </a:prstGeom>
        </p:spPr>
      </p:pic>
      <p:sp>
        <p:nvSpPr>
          <p:cNvPr id="10" name="Know text 2"/>
          <p:cNvSpPr txBox="1"/>
          <p:nvPr/>
        </p:nvSpPr>
        <p:spPr>
          <a:xfrm>
            <a:off x="5577840" y="1600200"/>
            <a:ext cx="2926080" cy="1005840"/>
          </a:xfrm>
          <a:prstGeom prst="rect">
            <a:avLst/>
          </a:prstGeom>
          <a:noFill/>
          <a:ln/>
        </p:spPr>
        <p:txBody>
          <a:bodyPr wrap="square" lIns="0" tIns="0" rIns="0" bIns="0" rtlCol="0" anchor="t"/>
          <a:lstStyle/>
          <a:p>
            <a:pPr indent="0" marL="0">
              <a:buNone/>
            </a:pPr>
            <a:r>
              <a:rPr lang="en-US" sz="1600" b="1" dirty="0">
                <a:solidFill>
                  <a:schemeClr val="tx1"/>
                </a:solidFill>
              </a:rPr>
              <a:t>Sites change</a:t>
            </a:r>
            <a:endParaRPr lang="en-US" sz="1600" dirty="0"/>
          </a:p>
          <a:p>
            <a:pPr indent="0" marL="0">
              <a:buNone/>
            </a:pPr>
            <a:r>
              <a:rPr lang="en-US" sz="1400" dirty="0">
                <a:solidFill>
                  <a:schemeClr val="accent5"/>
                </a:solidFill>
              </a:rPr>
              <a:t>Portal pages change; the agent's page selectors need occasional updates.</a:t>
            </a:r>
            <a:endParaRPr lang="en-US" sz="1600" dirty="0"/>
          </a:p>
        </p:txBody>
      </p:sp>
      <p:sp>
        <p:nvSpPr>
          <p:cNvPr id="11" name="Know card 3"/>
          <p:cNvSpPr/>
          <p:nvPr/>
        </p:nvSpPr>
        <p:spPr>
          <a:xfrm>
            <a:off x="457200" y="3017520"/>
            <a:ext cx="4023360" cy="1325880"/>
          </a:xfrm>
          <a:prstGeom prst="roundRect">
            <a:avLst>
              <a:gd name="adj" fmla="val 5517"/>
            </a:avLst>
          </a:prstGeom>
          <a:solidFill>
            <a:schemeClr val="bg1"/>
          </a:solidFill>
          <a:ln w="6350">
            <a:solidFill>
              <a:srgbClr val="F4F7FA"/>
            </a:solidFill>
            <a:prstDash val="solid"/>
          </a:ln>
          <a:effectLst>
            <a:outerShdw sx="100000" sy="100000" kx="0" ky="0" algn="bl" rotWithShape="0" blurRad="101600" dist="25400" dir="5400000">
              <a:srgbClr val="000000">
                <a:alpha val="12000"/>
              </a:srgbClr>
            </a:outerShdw>
          </a:effectLst>
        </p:spPr>
      </p:sp>
      <p:sp>
        <p:nvSpPr>
          <p:cNvPr id="12" name="Know 3 circle"/>
          <p:cNvSpPr/>
          <p:nvPr/>
        </p:nvSpPr>
        <p:spPr>
          <a:xfrm>
            <a:off x="685800" y="3246120"/>
            <a:ext cx="502920" cy="502920"/>
          </a:xfrm>
          <a:prstGeom prst="ellipse">
            <a:avLst/>
          </a:prstGeom>
          <a:solidFill>
            <a:schemeClr val="accent2"/>
          </a:solidFill>
          <a:ln w="12700">
            <a:solidFill>
              <a:schemeClr val="accent2"/>
            </a:solidFill>
            <a:prstDash val="solid"/>
          </a:ln>
        </p:spPr>
      </p:sp>
      <p:pic>
        <p:nvPicPr>
          <p:cNvPr id="13" name="Know 3 icon" descr="Key icon">    </p:cNvPr>
          <p:cNvPicPr>
            <a:picLocks noChangeAspect="1"/>
          </p:cNvPicPr>
          <p:nvPr/>
        </p:nvPicPr>
        <p:blipFill>
          <a:blip r:embed="rId3"/>
          <a:stretch>
            <a:fillRect/>
          </a:stretch>
        </p:blipFill>
        <p:spPr>
          <a:xfrm>
            <a:off x="816559" y="3376879"/>
            <a:ext cx="241402" cy="241402"/>
          </a:xfrm>
          <a:prstGeom prst="rect">
            <a:avLst/>
          </a:prstGeom>
        </p:spPr>
      </p:pic>
      <p:sp>
        <p:nvSpPr>
          <p:cNvPr id="14" name="Know text 3"/>
          <p:cNvSpPr txBox="1"/>
          <p:nvPr/>
        </p:nvSpPr>
        <p:spPr>
          <a:xfrm>
            <a:off x="1371600" y="3200400"/>
            <a:ext cx="2926080" cy="1005840"/>
          </a:xfrm>
          <a:prstGeom prst="rect">
            <a:avLst/>
          </a:prstGeom>
          <a:noFill/>
          <a:ln/>
        </p:spPr>
        <p:txBody>
          <a:bodyPr wrap="square" lIns="0" tIns="0" rIns="0" bIns="0" rtlCol="0" anchor="t"/>
          <a:lstStyle/>
          <a:p>
            <a:pPr indent="0" marL="0">
              <a:buNone/>
            </a:pPr>
            <a:r>
              <a:rPr lang="en-US" sz="1600" b="1" dirty="0">
                <a:solidFill>
                  <a:schemeClr val="tx1"/>
                </a:solidFill>
              </a:rPr>
              <a:t>Some steps stay manual</a:t>
            </a:r>
            <a:endParaRPr lang="en-US" sz="1600" dirty="0"/>
          </a:p>
          <a:p>
            <a:pPr indent="0" marL="0">
              <a:buNone/>
            </a:pPr>
            <a:r>
              <a:rPr lang="en-US" sz="1400" dirty="0">
                <a:solidFill>
                  <a:schemeClr val="accent5"/>
                </a:solidFill>
              </a:rPr>
              <a:t>OTP, CAPTCHA and account-only career sites are finished by you.</a:t>
            </a:r>
            <a:endParaRPr lang="en-US" sz="1600" dirty="0"/>
          </a:p>
        </p:txBody>
      </p:sp>
      <p:sp>
        <p:nvSpPr>
          <p:cNvPr id="15" name="Know card 4"/>
          <p:cNvSpPr/>
          <p:nvPr/>
        </p:nvSpPr>
        <p:spPr>
          <a:xfrm>
            <a:off x="4663440" y="3017520"/>
            <a:ext cx="4023360" cy="1325880"/>
          </a:xfrm>
          <a:prstGeom prst="roundRect">
            <a:avLst>
              <a:gd name="adj" fmla="val 5517"/>
            </a:avLst>
          </a:prstGeom>
          <a:solidFill>
            <a:schemeClr val="bg1"/>
          </a:solidFill>
          <a:ln w="6350">
            <a:solidFill>
              <a:srgbClr val="F4F7FA"/>
            </a:solidFill>
            <a:prstDash val="solid"/>
          </a:ln>
          <a:effectLst>
            <a:outerShdw sx="100000" sy="100000" kx="0" ky="0" algn="bl" rotWithShape="0" blurRad="101600" dist="25400" dir="5400000">
              <a:srgbClr val="000000">
                <a:alpha val="12000"/>
              </a:srgbClr>
            </a:outerShdw>
          </a:effectLst>
        </p:spPr>
      </p:sp>
      <p:sp>
        <p:nvSpPr>
          <p:cNvPr id="16" name="Know 4 circle"/>
          <p:cNvSpPr/>
          <p:nvPr/>
        </p:nvSpPr>
        <p:spPr>
          <a:xfrm>
            <a:off x="4892040" y="3246120"/>
            <a:ext cx="502920" cy="502920"/>
          </a:xfrm>
          <a:prstGeom prst="ellipse">
            <a:avLst/>
          </a:prstGeom>
          <a:solidFill>
            <a:schemeClr val="accent2"/>
          </a:solidFill>
          <a:ln w="12700">
            <a:solidFill>
              <a:schemeClr val="accent2"/>
            </a:solidFill>
            <a:prstDash val="solid"/>
          </a:ln>
        </p:spPr>
      </p:sp>
      <p:pic>
        <p:nvPicPr>
          <p:cNvPr id="17" name="Know 4 icon" descr="Monitor icon">    </p:cNvPr>
          <p:cNvPicPr>
            <a:picLocks noChangeAspect="1"/>
          </p:cNvPicPr>
          <p:nvPr/>
        </p:nvPicPr>
        <p:blipFill>
          <a:blip r:embed="rId4"/>
          <a:stretch>
            <a:fillRect/>
          </a:stretch>
        </p:blipFill>
        <p:spPr>
          <a:xfrm>
            <a:off x="5022799" y="3376879"/>
            <a:ext cx="241402" cy="241402"/>
          </a:xfrm>
          <a:prstGeom prst="rect">
            <a:avLst/>
          </a:prstGeom>
        </p:spPr>
      </p:pic>
      <p:sp>
        <p:nvSpPr>
          <p:cNvPr id="18" name="Know text 4"/>
          <p:cNvSpPr txBox="1"/>
          <p:nvPr/>
        </p:nvSpPr>
        <p:spPr>
          <a:xfrm>
            <a:off x="5577840" y="3200400"/>
            <a:ext cx="2926080" cy="1005840"/>
          </a:xfrm>
          <a:prstGeom prst="rect">
            <a:avLst/>
          </a:prstGeom>
          <a:noFill/>
          <a:ln/>
        </p:spPr>
        <p:txBody>
          <a:bodyPr wrap="square" lIns="0" tIns="0" rIns="0" bIns="0" rtlCol="0" anchor="t"/>
          <a:lstStyle/>
          <a:p>
            <a:pPr indent="0" marL="0">
              <a:buNone/>
            </a:pPr>
            <a:r>
              <a:rPr lang="en-US" sz="1600" b="1" dirty="0">
                <a:solidFill>
                  <a:schemeClr val="tx1"/>
                </a:solidFill>
              </a:rPr>
              <a:t>PC must be on</a:t>
            </a:r>
            <a:endParaRPr lang="en-US" sz="1600" dirty="0"/>
          </a:p>
          <a:p>
            <a:pPr indent="0" marL="0">
              <a:buNone/>
            </a:pPr>
            <a:r>
              <a:rPr lang="en-US" sz="1400" dirty="0">
                <a:solidFill>
                  <a:schemeClr val="accent5"/>
                </a:solidFill>
              </a:rPr>
              <a:t>Daily runs happen on your Windows PC at the time you choose.</a:t>
            </a:r>
            <a:endParaRPr lang="en-US" sz="16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40080"/>
            <a:ext cx="8046720" cy="822960"/>
          </a:xfrm>
          <a:prstGeom prst="rect">
            <a:avLst/>
          </a:prstGeom>
          <a:noFill/>
          <a:ln/>
        </p:spPr>
        <p:txBody>
          <a:bodyPr wrap="square" lIns="0" tIns="0" rIns="0" bIns="0" rtlCol="0" anchor="ctr"/>
          <a:lstStyle/>
          <a:p>
            <a:pPr algn="l" indent="0" marL="0">
              <a:buNone/>
            </a:pPr>
            <a:r>
              <a:rPr lang="en-US" sz="4000" b="1" dirty="0">
                <a:solidFill>
                  <a:schemeClr val="bg1"/>
                </a:solidFill>
              </a:rPr>
              <a:t>Start with a dry run</a:t>
            </a:r>
            <a:endParaRPr lang="en-US" sz="4000" dirty="0"/>
          </a:p>
        </p:txBody>
      </p:sp>
      <p:sp>
        <p:nvSpPr>
          <p:cNvPr id="3" name="Next number circle 1"/>
          <p:cNvSpPr/>
          <p:nvPr/>
        </p:nvSpPr>
        <p:spPr>
          <a:xfrm>
            <a:off x="548640" y="1920240"/>
            <a:ext cx="640080" cy="640080"/>
          </a:xfrm>
          <a:prstGeom prst="ellipse">
            <a:avLst/>
          </a:prstGeom>
          <a:solidFill>
            <a:schemeClr val="accent1"/>
          </a:solidFill>
          <a:ln w="12700">
            <a:solidFill>
              <a:schemeClr val="accent1"/>
            </a:solidFill>
            <a:prstDash val="solid"/>
          </a:ln>
        </p:spPr>
      </p:sp>
      <p:sp>
        <p:nvSpPr>
          <p:cNvPr id="4" name="Next number 1"/>
          <p:cNvSpPr txBox="1"/>
          <p:nvPr/>
        </p:nvSpPr>
        <p:spPr>
          <a:xfrm>
            <a:off x="548640" y="1920240"/>
            <a:ext cx="640080" cy="640080"/>
          </a:xfrm>
          <a:prstGeom prst="rect">
            <a:avLst/>
          </a:prstGeom>
          <a:noFill/>
          <a:ln/>
        </p:spPr>
        <p:txBody>
          <a:bodyPr wrap="square" lIns="0" tIns="0" rIns="0" bIns="0" rtlCol="0" anchor="ctr"/>
          <a:lstStyle/>
          <a:p>
            <a:pPr algn="ctr" indent="0" marL="0">
              <a:buNone/>
            </a:pPr>
            <a:r>
              <a:rPr lang="en-US" sz="2400" b="1" dirty="0">
                <a:solidFill>
                  <a:schemeClr val="tx1"/>
                </a:solidFill>
              </a:rPr>
              <a:t>1</a:t>
            </a:r>
            <a:endParaRPr lang="en-US" sz="2400" dirty="0"/>
          </a:p>
        </p:txBody>
      </p:sp>
      <p:sp>
        <p:nvSpPr>
          <p:cNvPr id="5" name="Next label 1"/>
          <p:cNvSpPr txBox="1"/>
          <p:nvPr/>
        </p:nvSpPr>
        <p:spPr>
          <a:xfrm>
            <a:off x="548640" y="2697480"/>
            <a:ext cx="1828800" cy="731520"/>
          </a:xfrm>
          <a:prstGeom prst="rect">
            <a:avLst/>
          </a:prstGeom>
          <a:noFill/>
          <a:ln/>
        </p:spPr>
        <p:txBody>
          <a:bodyPr wrap="square" lIns="0" tIns="0" rIns="0" bIns="0" rtlCol="0" anchor="t"/>
          <a:lstStyle/>
          <a:p>
            <a:pPr indent="0" marL="0">
              <a:buNone/>
            </a:pPr>
            <a:r>
              <a:rPr lang="en-US" sz="1800" b="1" dirty="0">
                <a:solidFill>
                  <a:schemeClr val="bg1"/>
                </a:solidFill>
              </a:rPr>
              <a:t>Upload resume</a:t>
            </a:r>
            <a:endParaRPr lang="en-US" sz="1800" dirty="0"/>
          </a:p>
        </p:txBody>
      </p:sp>
      <p:sp>
        <p:nvSpPr>
          <p:cNvPr id="6" name="Next number circle 2"/>
          <p:cNvSpPr/>
          <p:nvPr/>
        </p:nvSpPr>
        <p:spPr>
          <a:xfrm>
            <a:off x="2606040" y="1920240"/>
            <a:ext cx="640080" cy="640080"/>
          </a:xfrm>
          <a:prstGeom prst="ellipse">
            <a:avLst/>
          </a:prstGeom>
          <a:solidFill>
            <a:schemeClr val="accent1"/>
          </a:solidFill>
          <a:ln w="12700">
            <a:solidFill>
              <a:schemeClr val="accent1"/>
            </a:solidFill>
            <a:prstDash val="solid"/>
          </a:ln>
        </p:spPr>
      </p:sp>
      <p:sp>
        <p:nvSpPr>
          <p:cNvPr id="7" name="Next number 2"/>
          <p:cNvSpPr txBox="1"/>
          <p:nvPr/>
        </p:nvSpPr>
        <p:spPr>
          <a:xfrm>
            <a:off x="2606040" y="1920240"/>
            <a:ext cx="640080" cy="640080"/>
          </a:xfrm>
          <a:prstGeom prst="rect">
            <a:avLst/>
          </a:prstGeom>
          <a:noFill/>
          <a:ln/>
        </p:spPr>
        <p:txBody>
          <a:bodyPr wrap="square" lIns="0" tIns="0" rIns="0" bIns="0" rtlCol="0" anchor="ctr"/>
          <a:lstStyle/>
          <a:p>
            <a:pPr algn="ctr" indent="0" marL="0">
              <a:buNone/>
            </a:pPr>
            <a:r>
              <a:rPr lang="en-US" sz="2400" b="1" dirty="0">
                <a:solidFill>
                  <a:schemeClr val="tx1"/>
                </a:solidFill>
              </a:rPr>
              <a:t>2</a:t>
            </a:r>
            <a:endParaRPr lang="en-US" sz="2400" dirty="0"/>
          </a:p>
        </p:txBody>
      </p:sp>
      <p:sp>
        <p:nvSpPr>
          <p:cNvPr id="8" name="Next label 2"/>
          <p:cNvSpPr txBox="1"/>
          <p:nvPr/>
        </p:nvSpPr>
        <p:spPr>
          <a:xfrm>
            <a:off x="2606040" y="2697480"/>
            <a:ext cx="1828800" cy="731520"/>
          </a:xfrm>
          <a:prstGeom prst="rect">
            <a:avLst/>
          </a:prstGeom>
          <a:noFill/>
          <a:ln/>
        </p:spPr>
        <p:txBody>
          <a:bodyPr wrap="square" lIns="0" tIns="0" rIns="0" bIns="0" rtlCol="0" anchor="t"/>
          <a:lstStyle/>
          <a:p>
            <a:pPr indent="0" marL="0">
              <a:buNone/>
            </a:pPr>
            <a:r>
              <a:rPr lang="en-US" sz="1800" b="1" dirty="0">
                <a:solidFill>
                  <a:schemeClr val="bg1"/>
                </a:solidFill>
              </a:rPr>
              <a:t>Connect portals</a:t>
            </a:r>
            <a:endParaRPr lang="en-US" sz="1800" dirty="0"/>
          </a:p>
        </p:txBody>
      </p:sp>
      <p:sp>
        <p:nvSpPr>
          <p:cNvPr id="9" name="Next number circle 3"/>
          <p:cNvSpPr/>
          <p:nvPr/>
        </p:nvSpPr>
        <p:spPr>
          <a:xfrm>
            <a:off x="4663440" y="1920240"/>
            <a:ext cx="640080" cy="640080"/>
          </a:xfrm>
          <a:prstGeom prst="ellipse">
            <a:avLst/>
          </a:prstGeom>
          <a:solidFill>
            <a:schemeClr val="accent1"/>
          </a:solidFill>
          <a:ln w="12700">
            <a:solidFill>
              <a:schemeClr val="accent1"/>
            </a:solidFill>
            <a:prstDash val="solid"/>
          </a:ln>
        </p:spPr>
      </p:sp>
      <p:sp>
        <p:nvSpPr>
          <p:cNvPr id="10" name="Next number 3"/>
          <p:cNvSpPr txBox="1"/>
          <p:nvPr/>
        </p:nvSpPr>
        <p:spPr>
          <a:xfrm>
            <a:off x="4663440" y="1920240"/>
            <a:ext cx="640080" cy="640080"/>
          </a:xfrm>
          <a:prstGeom prst="rect">
            <a:avLst/>
          </a:prstGeom>
          <a:noFill/>
          <a:ln/>
        </p:spPr>
        <p:txBody>
          <a:bodyPr wrap="square" lIns="0" tIns="0" rIns="0" bIns="0" rtlCol="0" anchor="ctr"/>
          <a:lstStyle/>
          <a:p>
            <a:pPr algn="ctr" indent="0" marL="0">
              <a:buNone/>
            </a:pPr>
            <a:r>
              <a:rPr lang="en-US" sz="2400" b="1" dirty="0">
                <a:solidFill>
                  <a:schemeClr val="tx1"/>
                </a:solidFill>
              </a:rPr>
              <a:t>3</a:t>
            </a:r>
            <a:endParaRPr lang="en-US" sz="2400" dirty="0"/>
          </a:p>
        </p:txBody>
      </p:sp>
      <p:sp>
        <p:nvSpPr>
          <p:cNvPr id="11" name="Next label 3"/>
          <p:cNvSpPr txBox="1"/>
          <p:nvPr/>
        </p:nvSpPr>
        <p:spPr>
          <a:xfrm>
            <a:off x="4663440" y="2697480"/>
            <a:ext cx="1828800" cy="731520"/>
          </a:xfrm>
          <a:prstGeom prst="rect">
            <a:avLst/>
          </a:prstGeom>
          <a:noFill/>
          <a:ln/>
        </p:spPr>
        <p:txBody>
          <a:bodyPr wrap="square" lIns="0" tIns="0" rIns="0" bIns="0" rtlCol="0" anchor="t"/>
          <a:lstStyle/>
          <a:p>
            <a:pPr indent="0" marL="0">
              <a:buNone/>
            </a:pPr>
            <a:r>
              <a:rPr lang="en-US" sz="1800" b="1" dirty="0">
                <a:solidFill>
                  <a:schemeClr val="bg1"/>
                </a:solidFill>
              </a:rPr>
              <a:t>Review the dry run</a:t>
            </a:r>
            <a:endParaRPr lang="en-US" sz="1800" dirty="0"/>
          </a:p>
        </p:txBody>
      </p:sp>
      <p:sp>
        <p:nvSpPr>
          <p:cNvPr id="12" name="Next number circle 4"/>
          <p:cNvSpPr/>
          <p:nvPr/>
        </p:nvSpPr>
        <p:spPr>
          <a:xfrm>
            <a:off x="6720840" y="1920240"/>
            <a:ext cx="640080" cy="640080"/>
          </a:xfrm>
          <a:prstGeom prst="ellipse">
            <a:avLst/>
          </a:prstGeom>
          <a:solidFill>
            <a:schemeClr val="accent1"/>
          </a:solidFill>
          <a:ln w="12700">
            <a:solidFill>
              <a:schemeClr val="accent1"/>
            </a:solidFill>
            <a:prstDash val="solid"/>
          </a:ln>
        </p:spPr>
      </p:sp>
      <p:sp>
        <p:nvSpPr>
          <p:cNvPr id="13" name="Next number 4"/>
          <p:cNvSpPr txBox="1"/>
          <p:nvPr/>
        </p:nvSpPr>
        <p:spPr>
          <a:xfrm>
            <a:off x="6720840" y="1920240"/>
            <a:ext cx="640080" cy="640080"/>
          </a:xfrm>
          <a:prstGeom prst="rect">
            <a:avLst/>
          </a:prstGeom>
          <a:noFill/>
          <a:ln/>
        </p:spPr>
        <p:txBody>
          <a:bodyPr wrap="square" lIns="0" tIns="0" rIns="0" bIns="0" rtlCol="0" anchor="ctr"/>
          <a:lstStyle/>
          <a:p>
            <a:pPr algn="ctr" indent="0" marL="0">
              <a:buNone/>
            </a:pPr>
            <a:r>
              <a:rPr lang="en-US" sz="2400" b="1" dirty="0">
                <a:solidFill>
                  <a:schemeClr val="tx1"/>
                </a:solidFill>
              </a:rPr>
              <a:t>4</a:t>
            </a:r>
            <a:endParaRPr lang="en-US" sz="2400" dirty="0"/>
          </a:p>
        </p:txBody>
      </p:sp>
      <p:sp>
        <p:nvSpPr>
          <p:cNvPr id="14" name="Next label 4"/>
          <p:cNvSpPr txBox="1"/>
          <p:nvPr/>
        </p:nvSpPr>
        <p:spPr>
          <a:xfrm>
            <a:off x="6720840" y="2697480"/>
            <a:ext cx="1828800" cy="731520"/>
          </a:xfrm>
          <a:prstGeom prst="rect">
            <a:avLst/>
          </a:prstGeom>
          <a:noFill/>
          <a:ln/>
        </p:spPr>
        <p:txBody>
          <a:bodyPr wrap="square" lIns="0" tIns="0" rIns="0" bIns="0" rtlCol="0" anchor="t"/>
          <a:lstStyle/>
          <a:p>
            <a:pPr indent="0" marL="0">
              <a:buNone/>
            </a:pPr>
            <a:r>
              <a:rPr lang="en-US" sz="1800" b="1" dirty="0">
                <a:solidFill>
                  <a:schemeClr val="bg1"/>
                </a:solidFill>
              </a:rPr>
              <a:t>Switch to live</a:t>
            </a:r>
            <a:endParaRPr lang="en-US" sz="1800" dirty="0"/>
          </a:p>
        </p:txBody>
      </p:sp>
      <p:sp>
        <p:nvSpPr>
          <p:cNvPr id="15" name="Closing line"/>
          <p:cNvSpPr txBox="1"/>
          <p:nvPr/>
        </p:nvSpPr>
        <p:spPr>
          <a:xfrm>
            <a:off x="548640" y="3749040"/>
            <a:ext cx="3657600" cy="45720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Questions?</a:t>
            </a:r>
            <a:endParaRPr lang="en-US" sz="2400" dirty="0"/>
          </a:p>
        </p:txBody>
      </p:sp>
      <p:sp>
        <p:nvSpPr>
          <p:cNvPr id="16" name="Repo link"/>
          <p:cNvSpPr txBox="1"/>
          <p:nvPr/>
        </p:nvSpPr>
        <p:spPr>
          <a:xfrm>
            <a:off x="548640" y="4251960"/>
            <a:ext cx="5486400" cy="320040"/>
          </a:xfrm>
          <a:prstGeom prst="rect">
            <a:avLst/>
          </a:prstGeom>
          <a:noFill/>
          <a:ln/>
        </p:spPr>
        <p:txBody>
          <a:bodyPr wrap="square" lIns="0" tIns="0" rIns="0" bIns="0" rtlCol="0" anchor="ctr"/>
          <a:lstStyle/>
          <a:p>
            <a:pPr indent="0" marL="0">
              <a:buNone/>
            </a:pPr>
            <a:r>
              <a:rPr lang="en-US" sz="1400" dirty="0">
                <a:solidFill>
                  <a:schemeClr val="bg2"/>
                </a:solidFill>
              </a:rPr>
              <a:t>github.com/kothasreekanthreddy25/JobsApplyByAI</a:t>
            </a:r>
            <a:endParaRPr lang="en-US" sz="1400" dirty="0"/>
          </a:p>
        </p:txBody>
      </p:sp>
    </p:spTree>
  </p:cSld>
  <p:clrMapOvr>
    <a:masterClrMapping/>
  </p:clrMapOvr>
</p:sld>
</file>

<file path=ppt/theme/theme1.xml><?xml version="1.0" encoding="utf-8"?>
<a:theme xmlns:a="http://schemas.openxmlformats.org/drawingml/2006/main" name="Job Apply Agent">
  <a:themeElements>
    <a:clrScheme name="Job Apply Agent">
      <a:dk1>
        <a:srgbClr val="0B1F33"/>
      </a:dk1>
      <a:lt1>
        <a:srgbClr val="FFFFFF"/>
      </a:lt1>
      <a:dk2>
        <a:srgbClr val="1D3B5A"/>
      </a:dk2>
      <a:lt2>
        <a:srgbClr val="F4F7FA"/>
      </a:lt2>
      <a:accent1>
        <a:srgbClr val="0FB5A0"/>
      </a:accent1>
      <a:accent2>
        <a:srgbClr val="F5A524"/>
      </a:accent2>
      <a:accent3>
        <a:srgbClr val="1A7F4B"/>
      </a:accent3>
      <a:accent4>
        <a:srgbClr val="3B6EA5"/>
      </a:accent4>
      <a:accent5>
        <a:srgbClr val="5F6B7A"/>
      </a:accent5>
      <a:accent6>
        <a:srgbClr val="E4572E"/>
      </a:accent6>
      <a:hlink>
        <a:srgbClr val="0A8F7F"/>
      </a:hlink>
      <a:folHlink>
        <a:srgbClr val="5F6B7A"/>
      </a:folHlink>
    </a:clrScheme>
    <a:fontScheme name="Job Apply Agen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Job Apply Agent - Product demo</dc:title>
  <dc:subject>PptxGenJS Presentation</dc:subject>
  <dc:creator>Job Apply Agent</dc:creator>
  <cp:lastModifiedBy>Job Apply Agent</cp:lastModifiedBy>
  <cp:revision>1</cp:revision>
  <dcterms:created xsi:type="dcterms:W3CDTF">2026-10-20T02:08:01Z</dcterms:created>
  <dcterms:modified xsi:type="dcterms:W3CDTF">2026-10-20T02:08:01Z</dcterms:modified>
</cp:coreProperties>
</file>